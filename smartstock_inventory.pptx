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9" r:id="rId3"/>
    <p:sldId id="270" r:id="rId4"/>
    <p:sldId id="266" r:id="rId5"/>
    <p:sldId id="273" r:id="rId6"/>
    <p:sldId id="263" r:id="rId7"/>
    <p:sldId id="288" r:id="rId8"/>
    <p:sldId id="287" r:id="rId9"/>
    <p:sldId id="282" r:id="rId10"/>
    <p:sldId id="289" r:id="rId11"/>
    <p:sldId id="278" r:id="rId12"/>
    <p:sldId id="286" r:id="rId13"/>
  </p:sldIdLst>
  <p:sldSz cx="12192000" cy="6858000"/>
  <p:notesSz cx="12192000" cy="6858000"/>
  <p:embeddedFontLst>
    <p:embeddedFont>
      <p:font typeface="HGTTST+SegoeUI" panose="020B0604020202020204"/>
      <p:regular r:id="rId15"/>
    </p:embeddedFont>
    <p:embeddedFont>
      <p:font typeface="OQWKHA+SegoeUI-Bold" panose="020B0604020202020204"/>
      <p:regular r:id="rId16"/>
    </p:embeddedFont>
    <p:embeddedFont>
      <p:font typeface="Segoe UI Black" panose="020B0A02040204020203" pitchFamily="34" charset="0"/>
      <p:bold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7096"/>
    <a:srgbClr val="6692BF"/>
    <a:srgbClr val="2182E8"/>
    <a:srgbClr val="2487FB"/>
    <a:srgbClr val="3267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7" autoAdjust="0"/>
    <p:restoredTop sz="94660"/>
  </p:normalViewPr>
  <p:slideViewPr>
    <p:cSldViewPr>
      <p:cViewPr varScale="1">
        <p:scale>
          <a:sx n="77" d="100"/>
          <a:sy n="77" d="100"/>
        </p:scale>
        <p:origin x="86" y="82"/>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kthi .S.P" userId="b771dd94c37c82dc" providerId="LiveId" clId="{24825470-949D-4095-A001-80D65434F61C}"/>
    <pc:docChg chg="delSld">
      <pc:chgData name="Bhakthi .S.P" userId="b771dd94c37c82dc" providerId="LiveId" clId="{24825470-949D-4095-A001-80D65434F61C}" dt="2026-01-02T17:14:20.305" v="0" actId="2696"/>
      <pc:docMkLst>
        <pc:docMk/>
      </pc:docMkLst>
      <pc:sldChg chg="del">
        <pc:chgData name="Bhakthi .S.P" userId="b771dd94c37c82dc" providerId="LiveId" clId="{24825470-949D-4095-A001-80D65434F61C}" dt="2026-01-02T17:14:20.305" v="0" actId="2696"/>
        <pc:sldMkLst>
          <pc:docMk/>
          <pc:sldMk cId="3465726024"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DD07D68-8D6F-4267-9D17-4763042D0489}" type="datetimeFigureOut">
              <a:rPr lang="en-IN" smtClean="0"/>
              <a:t>02-01-2026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807ADC9-FA28-425B-BCD8-F0D8E51FDF31}" type="slidenum">
              <a:rPr lang="en-IN" smtClean="0"/>
              <a:t>‹#›</a:t>
            </a:fld>
            <a:endParaRPr lang="en-IN"/>
          </a:p>
        </p:txBody>
      </p:sp>
    </p:spTree>
    <p:extLst>
      <p:ext uri="{BB962C8B-B14F-4D97-AF65-F5344CB8AC3E}">
        <p14:creationId xmlns:p14="http://schemas.microsoft.com/office/powerpoint/2010/main" val="3013405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07ADC9-FA28-425B-BCD8-F0D8E51FDF31}" type="slidenum">
              <a:rPr lang="en-IN" smtClean="0"/>
              <a:t>1</a:t>
            </a:fld>
            <a:endParaRPr lang="en-IN"/>
          </a:p>
        </p:txBody>
      </p:sp>
    </p:spTree>
    <p:extLst>
      <p:ext uri="{BB962C8B-B14F-4D97-AF65-F5344CB8AC3E}">
        <p14:creationId xmlns:p14="http://schemas.microsoft.com/office/powerpoint/2010/main" val="3207922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1/2/2026</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1/2/2026</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hyperlink" Target="https://byword.ai/" TargetMode="External"/><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hyperlink" Target="https://smartstock-retail-optimizer.onrender.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p:cNvSpPr txBox="1"/>
          <p:nvPr/>
        </p:nvSpPr>
        <p:spPr>
          <a:xfrm>
            <a:off x="695400" y="692696"/>
            <a:ext cx="7056784" cy="961802"/>
          </a:xfrm>
          <a:prstGeom prst="rect">
            <a:avLst/>
          </a:prstGeom>
        </p:spPr>
        <p:txBody>
          <a:bodyPr vert="horz" wrap="square" lIns="0" tIns="0" rIns="0" bIns="0" rtlCol="0">
            <a:spAutoFit/>
          </a:bodyPr>
          <a:lstStyle/>
          <a:p>
            <a:pPr marL="0" marR="0">
              <a:lnSpc>
                <a:spcPts val="7502"/>
              </a:lnSpc>
              <a:spcBef>
                <a:spcPts val="0"/>
              </a:spcBef>
              <a:spcAft>
                <a:spcPts val="0"/>
              </a:spcAft>
            </a:pPr>
            <a:endParaRPr lang="en-US" sz="6600" b="1" dirty="0">
              <a:solidFill>
                <a:srgbClr val="FFFFFF"/>
              </a:solidFill>
              <a:latin typeface="OQWKHA+SegoeUI-Bold"/>
              <a:cs typeface="OQWKHA+SegoeUI-Bold"/>
            </a:endParaRPr>
          </a:p>
        </p:txBody>
      </p:sp>
      <p:sp>
        <p:nvSpPr>
          <p:cNvPr id="5" name="TextBox 4">
            <a:extLst>
              <a:ext uri="{FF2B5EF4-FFF2-40B4-BE49-F238E27FC236}">
                <a16:creationId xmlns:a16="http://schemas.microsoft.com/office/drawing/2014/main" id="{EF0F85AC-8D4D-1AF9-EC7D-65A5FF3C7A19}"/>
              </a:ext>
            </a:extLst>
          </p:cNvPr>
          <p:cNvSpPr txBox="1"/>
          <p:nvPr/>
        </p:nvSpPr>
        <p:spPr>
          <a:xfrm>
            <a:off x="119336" y="260648"/>
            <a:ext cx="10585176" cy="2862322"/>
          </a:xfrm>
          <a:prstGeom prst="rect">
            <a:avLst/>
          </a:prstGeom>
          <a:noFill/>
        </p:spPr>
        <p:txBody>
          <a:bodyPr wrap="square" rtlCol="0">
            <a:spAutoFit/>
          </a:bodyPr>
          <a:lstStyle/>
          <a:p>
            <a:r>
              <a:rPr lang="en-IN" sz="6000" b="1" dirty="0">
                <a:solidFill>
                  <a:schemeClr val="bg2"/>
                </a:solidFill>
                <a:latin typeface="Segoe UI Black" panose="020B0A02040204020203" pitchFamily="34" charset="0"/>
                <a:ea typeface="Segoe UI Black" panose="020B0A02040204020203" pitchFamily="34" charset="0"/>
              </a:rPr>
              <a:t>Smart Stock: Inventory Optimization for Retail Stores</a:t>
            </a:r>
          </a:p>
        </p:txBody>
      </p:sp>
      <p:sp>
        <p:nvSpPr>
          <p:cNvPr id="6" name="TextBox 5">
            <a:extLst>
              <a:ext uri="{FF2B5EF4-FFF2-40B4-BE49-F238E27FC236}">
                <a16:creationId xmlns:a16="http://schemas.microsoft.com/office/drawing/2014/main" id="{949CD057-97A0-DEC5-BF24-25D713148192}"/>
              </a:ext>
            </a:extLst>
          </p:cNvPr>
          <p:cNvSpPr txBox="1"/>
          <p:nvPr/>
        </p:nvSpPr>
        <p:spPr>
          <a:xfrm>
            <a:off x="191344" y="5798707"/>
            <a:ext cx="4824536" cy="707886"/>
          </a:xfrm>
          <a:prstGeom prst="rect">
            <a:avLst/>
          </a:prstGeom>
          <a:noFill/>
        </p:spPr>
        <p:txBody>
          <a:bodyPr wrap="square" rtlCol="0">
            <a:spAutoFit/>
          </a:bodyPr>
          <a:lstStyle/>
          <a:p>
            <a:r>
              <a:rPr lang="en-IN" sz="2000" dirty="0">
                <a:solidFill>
                  <a:schemeClr val="bg2"/>
                </a:solidFill>
                <a:latin typeface="Segoe UI Black" panose="020B0A02040204020203" pitchFamily="34" charset="0"/>
                <a:ea typeface="Segoe UI Black" panose="020B0A02040204020203" pitchFamily="34" charset="0"/>
              </a:rPr>
              <a:t>  Presented by:</a:t>
            </a:r>
          </a:p>
          <a:p>
            <a:r>
              <a:rPr lang="en-IN" sz="2000" dirty="0">
                <a:solidFill>
                  <a:schemeClr val="bg2"/>
                </a:solidFill>
                <a:latin typeface="Segoe UI Black" panose="020B0A02040204020203" pitchFamily="34" charset="0"/>
                <a:ea typeface="Segoe UI Black" panose="020B0A02040204020203" pitchFamily="34" charset="0"/>
              </a:rPr>
              <a:t>  BHAKTHI S P</a:t>
            </a:r>
          </a:p>
        </p:txBody>
      </p:sp>
      <p:sp>
        <p:nvSpPr>
          <p:cNvPr id="7" name="TextBox 6">
            <a:extLst>
              <a:ext uri="{FF2B5EF4-FFF2-40B4-BE49-F238E27FC236}">
                <a16:creationId xmlns:a16="http://schemas.microsoft.com/office/drawing/2014/main" id="{58FEC851-D2E0-B5F8-85A8-6DC1B63C104A}"/>
              </a:ext>
            </a:extLst>
          </p:cNvPr>
          <p:cNvSpPr txBox="1"/>
          <p:nvPr/>
        </p:nvSpPr>
        <p:spPr>
          <a:xfrm>
            <a:off x="5951984" y="2996952"/>
            <a:ext cx="360040"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DA19FCBD-8F0D-62EE-3193-76E27EDBA090}"/>
              </a:ext>
            </a:extLst>
          </p:cNvPr>
          <p:cNvSpPr txBox="1"/>
          <p:nvPr/>
        </p:nvSpPr>
        <p:spPr>
          <a:xfrm>
            <a:off x="11856640" y="6462628"/>
            <a:ext cx="216024" cy="369332"/>
          </a:xfrm>
          <a:prstGeom prst="rect">
            <a:avLst/>
          </a:prstGeom>
          <a:noFill/>
        </p:spPr>
        <p:txBody>
          <a:bodyPr wrap="square" rtlCol="0">
            <a:spAutoFit/>
          </a:bodyPr>
          <a:lstStyle/>
          <a:p>
            <a:r>
              <a:rPr lang="en-IN" dirty="0"/>
              <a:t>1</a:t>
            </a:r>
          </a:p>
        </p:txBody>
      </p:sp>
      <p:sp>
        <p:nvSpPr>
          <p:cNvPr id="9" name="TextBox 8">
            <a:extLst>
              <a:ext uri="{FF2B5EF4-FFF2-40B4-BE49-F238E27FC236}">
                <a16:creationId xmlns:a16="http://schemas.microsoft.com/office/drawing/2014/main" id="{3B3F8F64-3064-EE38-8B29-F96D6B8C2F23}"/>
              </a:ext>
            </a:extLst>
          </p:cNvPr>
          <p:cNvSpPr txBox="1"/>
          <p:nvPr/>
        </p:nvSpPr>
        <p:spPr>
          <a:xfrm>
            <a:off x="4007768" y="5798707"/>
            <a:ext cx="5832648" cy="707886"/>
          </a:xfrm>
          <a:prstGeom prst="rect">
            <a:avLst/>
          </a:prstGeom>
          <a:noFill/>
        </p:spPr>
        <p:txBody>
          <a:bodyPr wrap="square" rtlCol="0">
            <a:spAutoFit/>
          </a:bodyPr>
          <a:lstStyle/>
          <a:p>
            <a:r>
              <a:rPr lang="en-IN" sz="2000" dirty="0">
                <a:solidFill>
                  <a:schemeClr val="bg2"/>
                </a:solidFill>
                <a:latin typeface="Segoe UI Black" panose="020B0A02040204020203" pitchFamily="34" charset="0"/>
                <a:ea typeface="Segoe UI Black" panose="020B0A02040204020203" pitchFamily="34" charset="0"/>
              </a:rPr>
              <a:t>              Guided by:</a:t>
            </a:r>
          </a:p>
          <a:p>
            <a:r>
              <a:rPr lang="en-IN" sz="2000" dirty="0">
                <a:solidFill>
                  <a:schemeClr val="bg2"/>
                </a:solidFill>
                <a:latin typeface="Segoe UI Black" panose="020B0A02040204020203" pitchFamily="34" charset="0"/>
                <a:ea typeface="Segoe UI Black" panose="020B0A02040204020203" pitchFamily="34" charset="0"/>
              </a:rPr>
              <a:t>SAKTHI GOPALAKRISHNAN</a:t>
            </a:r>
          </a:p>
        </p:txBody>
      </p:sp>
      <p:sp>
        <p:nvSpPr>
          <p:cNvPr id="12" name="TextBox 11">
            <a:extLst>
              <a:ext uri="{FF2B5EF4-FFF2-40B4-BE49-F238E27FC236}">
                <a16:creationId xmlns:a16="http://schemas.microsoft.com/office/drawing/2014/main" id="{199BFFEC-8585-393C-BB87-860BDAC7BBA0}"/>
              </a:ext>
            </a:extLst>
          </p:cNvPr>
          <p:cNvSpPr txBox="1"/>
          <p:nvPr/>
        </p:nvSpPr>
        <p:spPr>
          <a:xfrm>
            <a:off x="134210" y="3128041"/>
            <a:ext cx="7113918" cy="1384995"/>
          </a:xfrm>
          <a:prstGeom prst="rect">
            <a:avLst/>
          </a:prstGeom>
          <a:noFill/>
        </p:spPr>
        <p:txBody>
          <a:bodyPr wrap="square" rtlCol="0">
            <a:spAutoFit/>
          </a:bodyPr>
          <a:lstStyle/>
          <a:p>
            <a:r>
              <a:rPr lang="en-IN" sz="2800" b="1" dirty="0">
                <a:solidFill>
                  <a:schemeClr val="bg1"/>
                </a:solidFill>
                <a:latin typeface="Segoe UI Black" panose="020B0A02040204020203" pitchFamily="34" charset="0"/>
                <a:ea typeface="Segoe UI Black" panose="020B0A02040204020203" pitchFamily="34" charset="0"/>
              </a:rPr>
              <a:t>AI-Based Retail Inventory Forecasting System</a:t>
            </a:r>
          </a:p>
          <a:p>
            <a:endParaRPr lang="en-IN" sz="2800" b="1" dirty="0">
              <a:solidFill>
                <a:schemeClr val="bg1"/>
              </a:solidFill>
            </a:endParaRPr>
          </a:p>
        </p:txBody>
      </p:sp>
      <p:pic>
        <p:nvPicPr>
          <p:cNvPr id="14" name="Picture 13" descr="A close-up of a logo&#10;&#10;AI-generated content may be incorrect.">
            <a:extLst>
              <a:ext uri="{FF2B5EF4-FFF2-40B4-BE49-F238E27FC236}">
                <a16:creationId xmlns:a16="http://schemas.microsoft.com/office/drawing/2014/main" id="{21DABB02-444A-7235-0A54-59CF3776D7E0}"/>
              </a:ext>
            </a:extLst>
          </p:cNvPr>
          <p:cNvPicPr>
            <a:picLocks noChangeAspect="1"/>
          </p:cNvPicPr>
          <p:nvPr/>
        </p:nvPicPr>
        <p:blipFill>
          <a:blip r:embed="rId4">
            <a:extLst>
              <a:ext uri="{28A0092B-C50C-407E-A947-70E740481C1C}">
                <a14:useLocalDpi xmlns:a14="http://schemas.microsoft.com/office/drawing/2010/main" val="0"/>
              </a:ext>
            </a:extLst>
          </a:blip>
          <a:srcRect t="26057" b="25454"/>
          <a:stretch>
            <a:fillRect/>
          </a:stretch>
        </p:blipFill>
        <p:spPr>
          <a:xfrm>
            <a:off x="10514485" y="297602"/>
            <a:ext cx="1438096" cy="3950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134886"/>
            <a:ext cx="12360696" cy="7027998"/>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575720" y="495787"/>
            <a:ext cx="4134867" cy="487313"/>
          </a:xfrm>
          <a:prstGeom prst="rect">
            <a:avLst/>
          </a:prstGeom>
        </p:spPr>
        <p:txBody>
          <a:bodyPr vert="horz" wrap="square" lIns="0" tIns="0" rIns="0" bIns="0" rtlCol="0">
            <a:spAutoFit/>
          </a:bodyPr>
          <a:lstStyle/>
          <a:p>
            <a:pPr marL="0" marR="0" algn="ctr">
              <a:lnSpc>
                <a:spcPts val="3751"/>
              </a:lnSpc>
              <a:spcBef>
                <a:spcPts val="0"/>
              </a:spcBef>
              <a:spcAft>
                <a:spcPts val="0"/>
              </a:spcAft>
            </a:pPr>
            <a:r>
              <a:rPr lang="en-IN" sz="3600" b="1" dirty="0">
                <a:solidFill>
                  <a:srgbClr val="FFFFFF"/>
                </a:solidFill>
                <a:latin typeface="OQWKHA+SegoeUI-Bold"/>
                <a:cs typeface="OQWKHA+SegoeUI-Bold"/>
              </a:rPr>
              <a:t>Problem Statement</a:t>
            </a:r>
            <a:endParaRPr sz="3600" b="1" dirty="0">
              <a:solidFill>
                <a:srgbClr val="FFFFFF"/>
              </a:solidFill>
              <a:latin typeface="OQWKHA+SegoeUI-Bold"/>
              <a:cs typeface="OQWKHA+SegoeUI-Bold"/>
            </a:endParaRPr>
          </a:p>
        </p:txBody>
      </p:sp>
      <p:sp>
        <p:nvSpPr>
          <p:cNvPr id="7" name="TextBox 6">
            <a:extLst>
              <a:ext uri="{FF2B5EF4-FFF2-40B4-BE49-F238E27FC236}">
                <a16:creationId xmlns:a16="http://schemas.microsoft.com/office/drawing/2014/main" id="{6D4AECA1-172C-B6DE-6546-BFA19F0F5B70}"/>
              </a:ext>
            </a:extLst>
          </p:cNvPr>
          <p:cNvSpPr txBox="1"/>
          <p:nvPr/>
        </p:nvSpPr>
        <p:spPr>
          <a:xfrm>
            <a:off x="6690263" y="2530395"/>
            <a:ext cx="4824535" cy="3831818"/>
          </a:xfrm>
          <a:prstGeom prst="rect">
            <a:avLst/>
          </a:prstGeom>
          <a:noFill/>
        </p:spPr>
        <p:txBody>
          <a:bodyPr wrap="square" rtlCol="0">
            <a:spAutoFit/>
          </a:bodyPr>
          <a:lstStyle/>
          <a:p>
            <a:r>
              <a:rPr lang="en-US" sz="1700" b="1" dirty="0">
                <a:solidFill>
                  <a:schemeClr val="bg1"/>
                </a:solidFill>
              </a:rPr>
              <a:t>Lack of Real-Time Inventory Visibility</a:t>
            </a:r>
            <a:br>
              <a:rPr lang="en-US" sz="1600" dirty="0">
                <a:solidFill>
                  <a:schemeClr val="bg1"/>
                </a:solidFill>
              </a:rPr>
            </a:br>
            <a:r>
              <a:rPr lang="en-US" sz="1600" dirty="0">
                <a:solidFill>
                  <a:schemeClr val="bg1"/>
                </a:solidFill>
              </a:rPr>
              <a:t>Manual tracking and delayed updates cause stockouts, overstock, and no unified view of inventory.</a:t>
            </a:r>
          </a:p>
          <a:p>
            <a:endParaRPr lang="en-US" sz="1600" dirty="0">
              <a:solidFill>
                <a:schemeClr val="bg1"/>
              </a:solidFill>
            </a:endParaRPr>
          </a:p>
          <a:p>
            <a:r>
              <a:rPr lang="en-US" sz="1700" b="1" dirty="0">
                <a:solidFill>
                  <a:schemeClr val="bg1"/>
                </a:solidFill>
              </a:rPr>
              <a:t>Inaccurate Demand Prediction</a:t>
            </a:r>
            <a:br>
              <a:rPr lang="en-US" sz="1600" dirty="0">
                <a:solidFill>
                  <a:schemeClr val="bg1"/>
                </a:solidFill>
              </a:rPr>
            </a:br>
            <a:r>
              <a:rPr lang="en-US" sz="1600" dirty="0">
                <a:solidFill>
                  <a:schemeClr val="bg1"/>
                </a:solidFill>
              </a:rPr>
              <a:t>Traditional methods struggle with large datasets like FreshRetail50K, leading to poor forecasts and inventory loss.</a:t>
            </a:r>
          </a:p>
          <a:p>
            <a:endParaRPr lang="en-US" sz="1600" dirty="0">
              <a:solidFill>
                <a:schemeClr val="bg1"/>
              </a:solidFill>
            </a:endParaRPr>
          </a:p>
          <a:p>
            <a:r>
              <a:rPr lang="en-US" sz="1700" b="1" dirty="0">
                <a:solidFill>
                  <a:schemeClr val="bg1"/>
                </a:solidFill>
              </a:rPr>
              <a:t>Operational Inefficiencies Across Multiple Stores</a:t>
            </a:r>
            <a:br>
              <a:rPr lang="en-US" sz="1600" dirty="0">
                <a:solidFill>
                  <a:schemeClr val="bg1"/>
                </a:solidFill>
              </a:rPr>
            </a:br>
            <a:r>
              <a:rPr lang="en-US" sz="1600" dirty="0">
                <a:solidFill>
                  <a:schemeClr val="bg1"/>
                </a:solidFill>
              </a:rPr>
              <a:t>No automated alerts and slow data sync increase storage costs and reduce customer satisfaction.</a:t>
            </a:r>
          </a:p>
          <a:p>
            <a:pPr marL="285750" indent="-285750">
              <a:buFont typeface="Arial" panose="020B0604020202020204" pitchFamily="34" charset="0"/>
              <a:buChar char="•"/>
            </a:pPr>
            <a:endParaRPr lang="en-US" sz="1600" b="1" dirty="0">
              <a:solidFill>
                <a:schemeClr val="bg1"/>
              </a:solidFill>
            </a:endParaRPr>
          </a:p>
          <a:p>
            <a:pPr marL="285750" indent="-285750">
              <a:buFont typeface="Arial" panose="020B0604020202020204" pitchFamily="34" charset="0"/>
              <a:buChar char="•"/>
            </a:pPr>
            <a:endParaRPr lang="en-US" sz="1600" b="1" dirty="0">
              <a:solidFill>
                <a:schemeClr val="bg1"/>
              </a:solidFill>
            </a:endParaRPr>
          </a:p>
          <a:p>
            <a:pPr marL="285750" indent="-285750">
              <a:buFont typeface="Arial" panose="020B0604020202020204" pitchFamily="34" charset="0"/>
              <a:buChar char="•"/>
            </a:pPr>
            <a:endParaRPr lang="en-US" sz="1600" b="1" dirty="0">
              <a:solidFill>
                <a:schemeClr val="bg1"/>
              </a:solidFill>
            </a:endParaRPr>
          </a:p>
        </p:txBody>
      </p:sp>
      <p:pic>
        <p:nvPicPr>
          <p:cNvPr id="13" name="Picture 12" descr="Businessperson on a computer">
            <a:extLst>
              <a:ext uri="{FF2B5EF4-FFF2-40B4-BE49-F238E27FC236}">
                <a16:creationId xmlns:a16="http://schemas.microsoft.com/office/drawing/2014/main" id="{9CFE5F64-5860-EC56-DD6C-F95FFDBDFB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5648" y="1785312"/>
            <a:ext cx="5400352" cy="4655834"/>
          </a:xfrm>
          <a:prstGeom prst="ellipse">
            <a:avLst/>
          </a:prstGeom>
          <a:ln>
            <a:noFill/>
          </a:ln>
          <a:effectLst>
            <a:softEdge rad="112500"/>
          </a:effectLst>
        </p:spPr>
      </p:pic>
      <p:sp>
        <p:nvSpPr>
          <p:cNvPr id="5" name="TextBox 4">
            <a:extLst>
              <a:ext uri="{FF2B5EF4-FFF2-40B4-BE49-F238E27FC236}">
                <a16:creationId xmlns:a16="http://schemas.microsoft.com/office/drawing/2014/main" id="{FE05D5DA-7519-5EB3-BD21-C66A462840F6}"/>
              </a:ext>
            </a:extLst>
          </p:cNvPr>
          <p:cNvSpPr txBox="1"/>
          <p:nvPr/>
        </p:nvSpPr>
        <p:spPr>
          <a:xfrm>
            <a:off x="12072664" y="6441146"/>
            <a:ext cx="119336" cy="369332"/>
          </a:xfrm>
          <a:prstGeom prst="rect">
            <a:avLst/>
          </a:prstGeom>
          <a:noFill/>
        </p:spPr>
        <p:txBody>
          <a:bodyPr wrap="square" rtlCol="0">
            <a:spAutoFit/>
          </a:bodyPr>
          <a:lstStyle/>
          <a:p>
            <a:r>
              <a:rPr lang="en-IN" dirty="0"/>
              <a:t>2</a:t>
            </a:r>
          </a:p>
        </p:txBody>
      </p:sp>
      <p:pic>
        <p:nvPicPr>
          <p:cNvPr id="8" name="Picture 7" descr="A close-up of a logo&#10;&#10;AI-generated content may be incorrect.">
            <a:extLst>
              <a:ext uri="{FF2B5EF4-FFF2-40B4-BE49-F238E27FC236}">
                <a16:creationId xmlns:a16="http://schemas.microsoft.com/office/drawing/2014/main" id="{FF9B5264-8AA4-DFF0-3174-DE2776422FB0}"/>
              </a:ext>
            </a:extLst>
          </p:cNvPr>
          <p:cNvPicPr>
            <a:picLocks noChangeAspect="1"/>
          </p:cNvPicPr>
          <p:nvPr/>
        </p:nvPicPr>
        <p:blipFill>
          <a:blip r:embed="rId4">
            <a:extLst>
              <a:ext uri="{28A0092B-C50C-407E-A947-70E740481C1C}">
                <a14:useLocalDpi xmlns:a14="http://schemas.microsoft.com/office/drawing/2010/main" val="0"/>
              </a:ext>
            </a:extLst>
          </a:blip>
          <a:srcRect l="18500" t="24800" r="18500" b="24800"/>
          <a:stretch>
            <a:fillRect/>
          </a:stretch>
        </p:blipFill>
        <p:spPr>
          <a:xfrm>
            <a:off x="10746006" y="404664"/>
            <a:ext cx="768792" cy="3843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4653061" y="495787"/>
            <a:ext cx="3575386" cy="487313"/>
          </a:xfrm>
          <a:prstGeom prst="rect">
            <a:avLst/>
          </a:prstGeom>
        </p:spPr>
        <p:txBody>
          <a:bodyPr vert="horz" wrap="square" lIns="0" tIns="0" rIns="0" bIns="0" rtlCol="0">
            <a:spAutoFit/>
          </a:bodyPr>
          <a:lstStyle/>
          <a:p>
            <a:pPr marL="0" marR="0">
              <a:lnSpc>
                <a:spcPts val="3751"/>
              </a:lnSpc>
              <a:spcBef>
                <a:spcPts val="0"/>
              </a:spcBef>
              <a:spcAft>
                <a:spcPts val="0"/>
              </a:spcAft>
            </a:pPr>
            <a:r>
              <a:rPr lang="en-IN" sz="3600" b="1" dirty="0">
                <a:solidFill>
                  <a:srgbClr val="FFFFFF"/>
                </a:solidFill>
                <a:latin typeface="OQWKHA+SegoeUI-Bold"/>
                <a:cs typeface="OQWKHA+SegoeUI-Bold"/>
              </a:rPr>
              <a:t>Core Objectives</a:t>
            </a:r>
            <a:endParaRPr sz="3600" b="1" dirty="0">
              <a:solidFill>
                <a:srgbClr val="FFFFFF"/>
              </a:solidFill>
              <a:latin typeface="OQWKHA+SegoeUI-Bold"/>
              <a:cs typeface="OQWKHA+SegoeUI-Bold"/>
            </a:endParaRPr>
          </a:p>
        </p:txBody>
      </p:sp>
      <p:sp>
        <p:nvSpPr>
          <p:cNvPr id="4" name="object 4"/>
          <p:cNvSpPr txBox="1"/>
          <p:nvPr/>
        </p:nvSpPr>
        <p:spPr>
          <a:xfrm>
            <a:off x="10521080" y="605056"/>
            <a:ext cx="1291626" cy="581099"/>
          </a:xfrm>
          <a:prstGeom prst="rect">
            <a:avLst/>
          </a:prstGeom>
        </p:spPr>
        <p:txBody>
          <a:bodyPr vert="horz" wrap="square" lIns="0" tIns="0" rIns="0" bIns="0" rtlCol="0">
            <a:spAutoFit/>
          </a:bodyPr>
          <a:lstStyle/>
          <a:p>
            <a:pPr marL="0" marR="0">
              <a:lnSpc>
                <a:spcPts val="1875"/>
              </a:lnSpc>
              <a:spcBef>
                <a:spcPts val="0"/>
              </a:spcBef>
              <a:spcAft>
                <a:spcPts val="0"/>
              </a:spcAft>
            </a:pPr>
            <a:r>
              <a:rPr sz="1800" b="1" dirty="0">
                <a:solidFill>
                  <a:srgbClr val="262626"/>
                </a:solidFill>
                <a:latin typeface="OQWKHA+SegoeUI-Bold"/>
                <a:cs typeface="OQWKHA+SegoeUI-Bold"/>
              </a:rPr>
              <a:t>AI Agent</a:t>
            </a:r>
          </a:p>
        </p:txBody>
      </p:sp>
      <p:sp>
        <p:nvSpPr>
          <p:cNvPr id="5" name="object 5"/>
          <p:cNvSpPr txBox="1"/>
          <p:nvPr/>
        </p:nvSpPr>
        <p:spPr>
          <a:xfrm>
            <a:off x="2063552" y="2402026"/>
            <a:ext cx="2854729" cy="243656"/>
          </a:xfrm>
          <a:prstGeom prst="rect">
            <a:avLst/>
          </a:prstGeom>
        </p:spPr>
        <p:txBody>
          <a:bodyPr vert="horz" wrap="square" lIns="0" tIns="0" rIns="0" bIns="0" rtlCol="0">
            <a:spAutoFit/>
          </a:bodyPr>
          <a:lstStyle/>
          <a:p>
            <a:pPr>
              <a:lnSpc>
                <a:spcPts val="1875"/>
              </a:lnSpc>
            </a:pPr>
            <a:r>
              <a:rPr lang="en-IN" b="1" dirty="0">
                <a:solidFill>
                  <a:srgbClr val="FFFFFF"/>
                </a:solidFill>
                <a:latin typeface="OQWKHA+SegoeUI-Bold"/>
                <a:cs typeface="OQWKHA+SegoeUI-Bold"/>
              </a:rPr>
              <a:t>      Primary Objective</a:t>
            </a:r>
            <a:endParaRPr sz="1800" b="1" dirty="0">
              <a:solidFill>
                <a:srgbClr val="FFFFFF"/>
              </a:solidFill>
              <a:latin typeface="OQWKHA+SegoeUI-Bold"/>
              <a:cs typeface="OQWKHA+SegoeUI-Bold"/>
            </a:endParaRPr>
          </a:p>
        </p:txBody>
      </p:sp>
      <p:sp>
        <p:nvSpPr>
          <p:cNvPr id="6" name="object 6"/>
          <p:cNvSpPr txBox="1"/>
          <p:nvPr/>
        </p:nvSpPr>
        <p:spPr>
          <a:xfrm>
            <a:off x="6720415" y="2402026"/>
            <a:ext cx="5015880" cy="243656"/>
          </a:xfrm>
          <a:prstGeom prst="rect">
            <a:avLst/>
          </a:prstGeom>
        </p:spPr>
        <p:txBody>
          <a:bodyPr vert="horz" wrap="square" lIns="0" tIns="0" rIns="0" bIns="0" rtlCol="0">
            <a:spAutoFit/>
          </a:bodyPr>
          <a:lstStyle/>
          <a:p>
            <a:pPr>
              <a:lnSpc>
                <a:spcPts val="1875"/>
              </a:lnSpc>
            </a:pPr>
            <a:r>
              <a:rPr lang="en-IN" b="1" dirty="0">
                <a:solidFill>
                  <a:schemeClr val="bg1"/>
                </a:solidFill>
                <a:latin typeface="OQWKHA+SegoeUI-Bold" panose="020B0604020202020204"/>
              </a:rPr>
              <a:t>      Machine Learning &amp; Forecasting</a:t>
            </a:r>
            <a:endParaRPr sz="1800" b="1" dirty="0">
              <a:solidFill>
                <a:schemeClr val="bg1"/>
              </a:solidFill>
              <a:latin typeface="OQWKHA+SegoeUI-Bold" panose="020B0604020202020204"/>
              <a:cs typeface="OQWKHA+SegoeUI-Bold"/>
            </a:endParaRPr>
          </a:p>
        </p:txBody>
      </p:sp>
      <p:sp>
        <p:nvSpPr>
          <p:cNvPr id="7" name="object 7"/>
          <p:cNvSpPr txBox="1"/>
          <p:nvPr/>
        </p:nvSpPr>
        <p:spPr>
          <a:xfrm>
            <a:off x="1545779" y="2762841"/>
            <a:ext cx="3890273" cy="738664"/>
          </a:xfrm>
          <a:prstGeom prst="rect">
            <a:avLst/>
          </a:prstGeom>
        </p:spPr>
        <p:txBody>
          <a:bodyPr vert="horz" wrap="square" lIns="0" tIns="0" rIns="0" bIns="0" rtlCol="0">
            <a:spAutoFit/>
          </a:bodyPr>
          <a:lstStyle/>
          <a:p>
            <a:pPr algn="ctr"/>
            <a:r>
              <a:rPr lang="en-IN" sz="1600" dirty="0">
                <a:solidFill>
                  <a:schemeClr val="bg1"/>
                </a:solidFill>
                <a:latin typeface="HGTTST+SegoeUI" panose="020B0604020202020204"/>
              </a:rPr>
              <a:t>To develop an inventory optimization system that predicts product demand and monitors stock in real time.</a:t>
            </a:r>
          </a:p>
        </p:txBody>
      </p:sp>
      <p:sp>
        <p:nvSpPr>
          <p:cNvPr id="8" name="object 8"/>
          <p:cNvSpPr txBox="1"/>
          <p:nvPr/>
        </p:nvSpPr>
        <p:spPr>
          <a:xfrm>
            <a:off x="6663633" y="2823963"/>
            <a:ext cx="4278183" cy="654025"/>
          </a:xfrm>
          <a:prstGeom prst="rect">
            <a:avLst/>
          </a:prstGeom>
        </p:spPr>
        <p:txBody>
          <a:bodyPr vert="horz" wrap="square" lIns="0" tIns="0" rIns="0" bIns="0" rtlCol="0">
            <a:spAutoFit/>
          </a:bodyPr>
          <a:lstStyle/>
          <a:p>
            <a:pPr algn="ctr">
              <a:lnSpc>
                <a:spcPts val="1667"/>
              </a:lnSpc>
            </a:pPr>
            <a:r>
              <a:rPr lang="en-US" sz="1600" dirty="0">
                <a:solidFill>
                  <a:srgbClr val="FFFFFF"/>
                </a:solidFill>
                <a:latin typeface="HGTTST+SegoeUI" panose="020B0604020202020204"/>
              </a:rPr>
              <a:t>Implement </a:t>
            </a:r>
            <a:r>
              <a:rPr lang="en-IN" sz="1600" dirty="0" err="1">
                <a:solidFill>
                  <a:schemeClr val="bg1"/>
                </a:solidFill>
                <a:latin typeface="HGTTST+SegoeUI" panose="020B0604020202020204"/>
              </a:rPr>
              <a:t>GBoost</a:t>
            </a:r>
            <a:r>
              <a:rPr lang="en-IN" sz="1600" dirty="0">
                <a:solidFill>
                  <a:schemeClr val="bg1"/>
                </a:solidFill>
                <a:latin typeface="HGTTST+SegoeUI" panose="020B0604020202020204"/>
              </a:rPr>
              <a:t>-based sales forecasting.</a:t>
            </a:r>
          </a:p>
          <a:p>
            <a:pPr algn="ctr">
              <a:lnSpc>
                <a:spcPts val="1667"/>
              </a:lnSpc>
            </a:pPr>
            <a:r>
              <a:rPr lang="en-IN" sz="1600" dirty="0">
                <a:solidFill>
                  <a:schemeClr val="bg1"/>
                </a:solidFill>
                <a:latin typeface="HGTTST+SegoeUI" panose="020B0604020202020204"/>
              </a:rPr>
              <a:t>Develop real-time inventory dashboard.</a:t>
            </a:r>
          </a:p>
          <a:p>
            <a:pPr algn="ctr">
              <a:lnSpc>
                <a:spcPts val="1667"/>
              </a:lnSpc>
            </a:pPr>
            <a:endParaRPr sz="1600" dirty="0">
              <a:solidFill>
                <a:srgbClr val="FFFFFF"/>
              </a:solidFill>
              <a:latin typeface="HGTTST+SegoeUI" panose="020B0604020202020204"/>
              <a:cs typeface="HGTTST+SegoeUI"/>
            </a:endParaRPr>
          </a:p>
        </p:txBody>
      </p:sp>
      <p:sp>
        <p:nvSpPr>
          <p:cNvPr id="9" name="object 9"/>
          <p:cNvSpPr txBox="1"/>
          <p:nvPr/>
        </p:nvSpPr>
        <p:spPr>
          <a:xfrm>
            <a:off x="1847528" y="4746037"/>
            <a:ext cx="4031311" cy="243656"/>
          </a:xfrm>
          <a:prstGeom prst="rect">
            <a:avLst/>
          </a:prstGeom>
        </p:spPr>
        <p:txBody>
          <a:bodyPr vert="horz" wrap="square" lIns="0" tIns="0" rIns="0" bIns="0" rtlCol="0">
            <a:spAutoFit/>
          </a:bodyPr>
          <a:lstStyle/>
          <a:p>
            <a:pPr>
              <a:lnSpc>
                <a:spcPts val="1875"/>
              </a:lnSpc>
            </a:pPr>
            <a:r>
              <a:rPr lang="en-IN" b="1" dirty="0">
                <a:solidFill>
                  <a:schemeClr val="bg1"/>
                </a:solidFill>
                <a:latin typeface="OQWKHA+SegoeUI-Bold" panose="020B0604020202020204"/>
              </a:rPr>
              <a:t>Backend Development &amp; APIs</a:t>
            </a:r>
            <a:endParaRPr sz="1800" b="1" dirty="0">
              <a:solidFill>
                <a:schemeClr val="bg1"/>
              </a:solidFill>
              <a:latin typeface="OQWKHA+SegoeUI-Bold" panose="020B0604020202020204"/>
              <a:cs typeface="OQWKHA+SegoeUI-Bold"/>
            </a:endParaRPr>
          </a:p>
        </p:txBody>
      </p:sp>
      <p:sp>
        <p:nvSpPr>
          <p:cNvPr id="10" name="object 10"/>
          <p:cNvSpPr txBox="1"/>
          <p:nvPr/>
        </p:nvSpPr>
        <p:spPr>
          <a:xfrm>
            <a:off x="7003092" y="4719107"/>
            <a:ext cx="3599263" cy="243656"/>
          </a:xfrm>
          <a:prstGeom prst="rect">
            <a:avLst/>
          </a:prstGeom>
        </p:spPr>
        <p:txBody>
          <a:bodyPr vert="horz" wrap="square" lIns="0" tIns="0" rIns="0" bIns="0" rtlCol="0">
            <a:spAutoFit/>
          </a:bodyPr>
          <a:lstStyle/>
          <a:p>
            <a:pPr>
              <a:lnSpc>
                <a:spcPts val="1875"/>
              </a:lnSpc>
            </a:pPr>
            <a:r>
              <a:rPr lang="en-IN" b="1" dirty="0">
                <a:solidFill>
                  <a:schemeClr val="bg1"/>
                </a:solidFill>
                <a:latin typeface="OQWKHA+SegoeUI-Bold" panose="020B0604020202020204"/>
              </a:rPr>
              <a:t>Deployment &amp; User Management</a:t>
            </a:r>
            <a:endParaRPr sz="1800" b="1" dirty="0">
              <a:solidFill>
                <a:schemeClr val="bg1"/>
              </a:solidFill>
              <a:latin typeface="OQWKHA+SegoeUI-Bold" panose="020B0604020202020204"/>
              <a:cs typeface="OQWKHA+SegoeUI-Bold"/>
            </a:endParaRPr>
          </a:p>
        </p:txBody>
      </p:sp>
      <p:sp>
        <p:nvSpPr>
          <p:cNvPr id="11" name="object 11"/>
          <p:cNvSpPr txBox="1"/>
          <p:nvPr/>
        </p:nvSpPr>
        <p:spPr>
          <a:xfrm>
            <a:off x="1327857" y="5076327"/>
            <a:ext cx="4108309" cy="441018"/>
          </a:xfrm>
          <a:prstGeom prst="rect">
            <a:avLst/>
          </a:prstGeom>
        </p:spPr>
        <p:txBody>
          <a:bodyPr vert="horz" wrap="square" lIns="0" tIns="0" rIns="0" bIns="0" rtlCol="0">
            <a:spAutoFit/>
          </a:bodyPr>
          <a:lstStyle/>
          <a:p>
            <a:pPr marL="223043" marR="0" algn="ctr">
              <a:lnSpc>
                <a:spcPts val="1667"/>
              </a:lnSpc>
              <a:spcBef>
                <a:spcPts val="0"/>
              </a:spcBef>
              <a:spcAft>
                <a:spcPts val="0"/>
              </a:spcAft>
            </a:pPr>
            <a:r>
              <a:rPr lang="en-IN" sz="1600" dirty="0">
                <a:solidFill>
                  <a:schemeClr val="bg1"/>
                </a:solidFill>
                <a:latin typeface="HGTTST+SegoeUI" panose="020B0604020202020204"/>
              </a:rPr>
              <a:t>Build Flask-powered REST APIs.</a:t>
            </a:r>
          </a:p>
          <a:p>
            <a:pPr marL="223043" marR="0" algn="ctr">
              <a:lnSpc>
                <a:spcPts val="1667"/>
              </a:lnSpc>
              <a:spcBef>
                <a:spcPts val="0"/>
              </a:spcBef>
              <a:spcAft>
                <a:spcPts val="0"/>
              </a:spcAft>
            </a:pPr>
            <a:r>
              <a:rPr lang="en-IN" sz="1600" dirty="0">
                <a:solidFill>
                  <a:schemeClr val="bg1"/>
                </a:solidFill>
                <a:latin typeface="HGTTST+SegoeUI" panose="020B0604020202020204"/>
              </a:rPr>
              <a:t>Integrate PostgreSQL cloud database.</a:t>
            </a:r>
            <a:endParaRPr sz="1600" dirty="0">
              <a:solidFill>
                <a:schemeClr val="bg1"/>
              </a:solidFill>
              <a:latin typeface="HGTTST+SegoeUI" panose="020B0604020202020204"/>
              <a:cs typeface="HGTTST+SegoeUI"/>
            </a:endParaRPr>
          </a:p>
        </p:txBody>
      </p:sp>
      <p:sp>
        <p:nvSpPr>
          <p:cNvPr id="12" name="object 12"/>
          <p:cNvSpPr txBox="1"/>
          <p:nvPr/>
        </p:nvSpPr>
        <p:spPr>
          <a:xfrm>
            <a:off x="6665105" y="5082038"/>
            <a:ext cx="4212763" cy="654025"/>
          </a:xfrm>
          <a:prstGeom prst="rect">
            <a:avLst/>
          </a:prstGeom>
        </p:spPr>
        <p:txBody>
          <a:bodyPr vert="horz" wrap="square" lIns="0" tIns="0" rIns="0" bIns="0" rtlCol="0">
            <a:spAutoFit/>
          </a:bodyPr>
          <a:lstStyle/>
          <a:p>
            <a:pPr algn="ctr">
              <a:lnSpc>
                <a:spcPts val="1667"/>
              </a:lnSpc>
            </a:pPr>
            <a:r>
              <a:rPr lang="en-US" sz="1600" dirty="0">
                <a:solidFill>
                  <a:schemeClr val="bg1"/>
                </a:solidFill>
                <a:latin typeface="HGTTST+SegoeUI" panose="020B0604020202020204"/>
              </a:rPr>
              <a:t>Enable Admin and Store Manager authentication.</a:t>
            </a:r>
          </a:p>
          <a:p>
            <a:pPr algn="ctr">
              <a:lnSpc>
                <a:spcPts val="1667"/>
              </a:lnSpc>
            </a:pPr>
            <a:r>
              <a:rPr lang="en-US" sz="1600" dirty="0">
                <a:solidFill>
                  <a:schemeClr val="bg1"/>
                </a:solidFill>
                <a:latin typeface="HGTTST+SegoeUI" panose="020B0604020202020204"/>
              </a:rPr>
              <a:t>   Deploy the system on Render cloud.</a:t>
            </a:r>
            <a:endParaRPr sz="1600" dirty="0">
              <a:solidFill>
                <a:schemeClr val="bg1"/>
              </a:solidFill>
              <a:latin typeface="HGTTST+SegoeUI" panose="020B0604020202020204"/>
              <a:cs typeface="HGTTST+SegoeUI"/>
            </a:endParaRPr>
          </a:p>
        </p:txBody>
      </p:sp>
      <p:sp>
        <p:nvSpPr>
          <p:cNvPr id="14" name="TextBox 13">
            <a:extLst>
              <a:ext uri="{FF2B5EF4-FFF2-40B4-BE49-F238E27FC236}">
                <a16:creationId xmlns:a16="http://schemas.microsoft.com/office/drawing/2014/main" id="{0567B6FD-DA42-90F6-A911-F1CFE20B406C}"/>
              </a:ext>
            </a:extLst>
          </p:cNvPr>
          <p:cNvSpPr txBox="1"/>
          <p:nvPr/>
        </p:nvSpPr>
        <p:spPr>
          <a:xfrm>
            <a:off x="11736295" y="6381328"/>
            <a:ext cx="264361" cy="369332"/>
          </a:xfrm>
          <a:prstGeom prst="rect">
            <a:avLst/>
          </a:prstGeom>
          <a:noFill/>
        </p:spPr>
        <p:txBody>
          <a:bodyPr wrap="square" rtlCol="0">
            <a:spAutoFit/>
          </a:bodyPr>
          <a:lstStyle/>
          <a:p>
            <a:r>
              <a:rPr lang="en-IN" dirty="0"/>
              <a:t>3</a:t>
            </a:r>
          </a:p>
        </p:txBody>
      </p:sp>
      <p:pic>
        <p:nvPicPr>
          <p:cNvPr id="21" name="Picture 20" descr="A close-up of a logo&#10;&#10;AI-generated content may be incorrect.">
            <a:extLst>
              <a:ext uri="{FF2B5EF4-FFF2-40B4-BE49-F238E27FC236}">
                <a16:creationId xmlns:a16="http://schemas.microsoft.com/office/drawing/2014/main" id="{69550C34-48C1-FA30-32A8-5EAB9C2FAB4C}"/>
              </a:ext>
            </a:extLst>
          </p:cNvPr>
          <p:cNvPicPr>
            <a:picLocks noChangeAspect="1"/>
          </p:cNvPicPr>
          <p:nvPr/>
        </p:nvPicPr>
        <p:blipFill>
          <a:blip r:embed="rId3" cstate="print">
            <a:extLst>
              <a:ext uri="{28A0092B-C50C-407E-A947-70E740481C1C}">
                <a14:useLocalDpi xmlns:a14="http://schemas.microsoft.com/office/drawing/2010/main" val="0"/>
              </a:ext>
            </a:extLst>
          </a:blip>
          <a:srcRect t="24800" b="24771"/>
          <a:stretch>
            <a:fillRect/>
          </a:stretch>
        </p:blipFill>
        <p:spPr>
          <a:xfrm>
            <a:off x="10416480" y="549938"/>
            <a:ext cx="1172353" cy="3695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3480544" y="463801"/>
            <a:ext cx="5207743" cy="487313"/>
          </a:xfrm>
          <a:prstGeom prst="rect">
            <a:avLst/>
          </a:prstGeom>
        </p:spPr>
        <p:txBody>
          <a:bodyPr vert="horz" wrap="square" lIns="0" tIns="0" rIns="0" bIns="0" rtlCol="0">
            <a:spAutoFit/>
          </a:bodyPr>
          <a:lstStyle/>
          <a:p>
            <a:pPr marL="0" marR="0">
              <a:lnSpc>
                <a:spcPts val="3751"/>
              </a:lnSpc>
              <a:spcBef>
                <a:spcPts val="0"/>
              </a:spcBef>
              <a:spcAft>
                <a:spcPts val="0"/>
              </a:spcAft>
            </a:pPr>
            <a:r>
              <a:rPr lang="en-IN" sz="3600" b="1" dirty="0">
                <a:solidFill>
                  <a:srgbClr val="FFFFFF"/>
                </a:solidFill>
                <a:latin typeface="OQWKHA+SegoeUI-Bold"/>
                <a:cs typeface="OQWKHA+SegoeUI-Bold"/>
              </a:rPr>
              <a:t>Dataset – FreshRetail50k</a:t>
            </a:r>
            <a:endParaRPr sz="3600" b="1" dirty="0">
              <a:solidFill>
                <a:srgbClr val="FFFFFF"/>
              </a:solidFill>
              <a:latin typeface="OQWKHA+SegoeUI-Bold"/>
              <a:cs typeface="OQWKHA+SegoeUI-Bold"/>
            </a:endParaRPr>
          </a:p>
        </p:txBody>
      </p:sp>
      <p:sp>
        <p:nvSpPr>
          <p:cNvPr id="5" name="object 5"/>
          <p:cNvSpPr txBox="1"/>
          <p:nvPr/>
        </p:nvSpPr>
        <p:spPr>
          <a:xfrm>
            <a:off x="547991" y="2325134"/>
            <a:ext cx="527099" cy="4041354"/>
          </a:xfrm>
          <a:prstGeom prst="rect">
            <a:avLst/>
          </a:prstGeom>
        </p:spPr>
        <p:txBody>
          <a:bodyPr vert="horz" wrap="square" lIns="0" tIns="0" rIns="0" bIns="0" rtlCol="0">
            <a:spAutoFit/>
          </a:bodyPr>
          <a:lstStyle/>
          <a:p>
            <a:pPr marL="0" marR="0">
              <a:lnSpc>
                <a:spcPts val="2083"/>
              </a:lnSpc>
              <a:spcBef>
                <a:spcPts val="0"/>
              </a:spcBef>
              <a:spcAft>
                <a:spcPts val="0"/>
              </a:spcAft>
            </a:pPr>
            <a:r>
              <a:rPr sz="2000" b="1" dirty="0">
                <a:solidFill>
                  <a:srgbClr val="00B0F0"/>
                </a:solidFill>
                <a:latin typeface="OQWKHA+SegoeUI-Bold"/>
                <a:cs typeface="OQWKHA+SegoeUI-Bold"/>
              </a:rPr>
              <a:t>1</a:t>
            </a:r>
          </a:p>
          <a:p>
            <a:pPr marL="0" marR="0">
              <a:lnSpc>
                <a:spcPts val="2083"/>
              </a:lnSpc>
              <a:spcBef>
                <a:spcPts val="11284"/>
              </a:spcBef>
              <a:spcAft>
                <a:spcPts val="0"/>
              </a:spcAft>
            </a:pPr>
            <a:r>
              <a:rPr sz="2000" b="1" dirty="0">
                <a:solidFill>
                  <a:srgbClr val="00B0F0"/>
                </a:solidFill>
                <a:latin typeface="OQWKHA+SegoeUI-Bold"/>
                <a:cs typeface="OQWKHA+SegoeUI-Bold"/>
              </a:rPr>
              <a:t>2</a:t>
            </a:r>
          </a:p>
          <a:p>
            <a:pPr marL="0" marR="0">
              <a:lnSpc>
                <a:spcPts val="2083"/>
              </a:lnSpc>
              <a:spcBef>
                <a:spcPts val="11234"/>
              </a:spcBef>
              <a:spcAft>
                <a:spcPts val="0"/>
              </a:spcAft>
            </a:pPr>
            <a:r>
              <a:rPr sz="2000" b="1" dirty="0">
                <a:solidFill>
                  <a:srgbClr val="00B0F0"/>
                </a:solidFill>
                <a:latin typeface="OQWKHA+SegoeUI-Bold"/>
                <a:cs typeface="OQWKHA+SegoeUI-Bold"/>
              </a:rPr>
              <a:t>3</a:t>
            </a:r>
          </a:p>
        </p:txBody>
      </p:sp>
      <p:sp>
        <p:nvSpPr>
          <p:cNvPr id="12" name="Rectangle: Rounded Corners 11">
            <a:extLst>
              <a:ext uri="{FF2B5EF4-FFF2-40B4-BE49-F238E27FC236}">
                <a16:creationId xmlns:a16="http://schemas.microsoft.com/office/drawing/2014/main" id="{D79C2986-0A15-3C41-5562-C91F68E364E5}"/>
              </a:ext>
            </a:extLst>
          </p:cNvPr>
          <p:cNvSpPr/>
          <p:nvPr/>
        </p:nvSpPr>
        <p:spPr>
          <a:xfrm>
            <a:off x="10200456" y="463801"/>
            <a:ext cx="1584176" cy="487313"/>
          </a:xfrm>
          <a:prstGeom prst="roundRect">
            <a:avLst/>
          </a:prstGeom>
          <a:solidFill>
            <a:schemeClr val="tx2">
              <a:lumMod val="40000"/>
              <a:lumOff val="6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DEEB9988-995B-E3D7-3289-E12C2E6D4BB7}"/>
              </a:ext>
            </a:extLst>
          </p:cNvPr>
          <p:cNvSpPr txBox="1"/>
          <p:nvPr/>
        </p:nvSpPr>
        <p:spPr>
          <a:xfrm>
            <a:off x="11856640" y="6453336"/>
            <a:ext cx="720080" cy="369332"/>
          </a:xfrm>
          <a:prstGeom prst="rect">
            <a:avLst/>
          </a:prstGeom>
          <a:noFill/>
        </p:spPr>
        <p:txBody>
          <a:bodyPr wrap="square" rtlCol="0">
            <a:spAutoFit/>
          </a:bodyPr>
          <a:lstStyle/>
          <a:p>
            <a:r>
              <a:rPr lang="en-IN" dirty="0"/>
              <a:t>4</a:t>
            </a:r>
          </a:p>
        </p:txBody>
      </p:sp>
      <p:sp>
        <p:nvSpPr>
          <p:cNvPr id="14" name="TextBox 13">
            <a:extLst>
              <a:ext uri="{FF2B5EF4-FFF2-40B4-BE49-F238E27FC236}">
                <a16:creationId xmlns:a16="http://schemas.microsoft.com/office/drawing/2014/main" id="{B61C4923-25FB-3565-802B-2ED170E9B37C}"/>
              </a:ext>
            </a:extLst>
          </p:cNvPr>
          <p:cNvSpPr txBox="1"/>
          <p:nvPr/>
        </p:nvSpPr>
        <p:spPr>
          <a:xfrm>
            <a:off x="1075090" y="1988840"/>
            <a:ext cx="4711191" cy="923330"/>
          </a:xfrm>
          <a:prstGeom prst="rect">
            <a:avLst/>
          </a:prstGeom>
          <a:noFill/>
        </p:spPr>
        <p:txBody>
          <a:bodyPr wrap="square" rtlCol="0">
            <a:spAutoFit/>
          </a:bodyPr>
          <a:lstStyle/>
          <a:p>
            <a:r>
              <a:rPr lang="en-US" b="1" dirty="0">
                <a:solidFill>
                  <a:schemeClr val="bg1"/>
                </a:solidFill>
              </a:rPr>
              <a:t>Large-Scale Retail Data:</a:t>
            </a:r>
            <a:r>
              <a:rPr lang="en-US" dirty="0">
                <a:solidFill>
                  <a:schemeClr val="bg1"/>
                </a:solidFill>
              </a:rPr>
              <a:t> </a:t>
            </a:r>
          </a:p>
          <a:p>
            <a:pPr algn="just"/>
            <a:r>
              <a:rPr lang="en-US" dirty="0">
                <a:solidFill>
                  <a:schemeClr val="bg1"/>
                </a:solidFill>
              </a:rPr>
              <a:t>Contains 50,000+ records of daily sales, stock, and store information across multiple cities.</a:t>
            </a:r>
            <a:endParaRPr lang="en-IN" dirty="0">
              <a:solidFill>
                <a:schemeClr val="bg1"/>
              </a:solidFill>
            </a:endParaRPr>
          </a:p>
        </p:txBody>
      </p:sp>
      <p:sp>
        <p:nvSpPr>
          <p:cNvPr id="15" name="TextBox 14">
            <a:extLst>
              <a:ext uri="{FF2B5EF4-FFF2-40B4-BE49-F238E27FC236}">
                <a16:creationId xmlns:a16="http://schemas.microsoft.com/office/drawing/2014/main" id="{CB52EB19-676D-95E8-A2DC-B803FE58CD7E}"/>
              </a:ext>
            </a:extLst>
          </p:cNvPr>
          <p:cNvSpPr txBox="1"/>
          <p:nvPr/>
        </p:nvSpPr>
        <p:spPr>
          <a:xfrm>
            <a:off x="1055292" y="3687708"/>
            <a:ext cx="4880842" cy="923330"/>
          </a:xfrm>
          <a:prstGeom prst="rect">
            <a:avLst/>
          </a:prstGeom>
          <a:noFill/>
        </p:spPr>
        <p:txBody>
          <a:bodyPr wrap="square" rtlCol="0">
            <a:spAutoFit/>
          </a:bodyPr>
          <a:lstStyle/>
          <a:p>
            <a:r>
              <a:rPr lang="en-US" b="1" dirty="0">
                <a:solidFill>
                  <a:schemeClr val="bg1"/>
                </a:solidFill>
              </a:rPr>
              <a:t>Time-Series Format</a:t>
            </a:r>
            <a:r>
              <a:rPr lang="en-US" dirty="0">
                <a:solidFill>
                  <a:schemeClr val="bg1"/>
                </a:solidFill>
              </a:rPr>
              <a:t>: </a:t>
            </a:r>
          </a:p>
          <a:p>
            <a:pPr algn="just"/>
            <a:r>
              <a:rPr lang="en-US" dirty="0">
                <a:solidFill>
                  <a:schemeClr val="bg1"/>
                </a:solidFill>
              </a:rPr>
              <a:t>Includes historical sales, stock levels, discounts, and holiday/activity flags for demand forecasting.</a:t>
            </a:r>
            <a:endParaRPr lang="en-IN" dirty="0">
              <a:solidFill>
                <a:schemeClr val="bg1"/>
              </a:solidFill>
            </a:endParaRPr>
          </a:p>
        </p:txBody>
      </p:sp>
      <p:sp>
        <p:nvSpPr>
          <p:cNvPr id="16" name="TextBox 15">
            <a:extLst>
              <a:ext uri="{FF2B5EF4-FFF2-40B4-BE49-F238E27FC236}">
                <a16:creationId xmlns:a16="http://schemas.microsoft.com/office/drawing/2014/main" id="{5009BBDB-359C-38B7-C850-113064D1113C}"/>
              </a:ext>
            </a:extLst>
          </p:cNvPr>
          <p:cNvSpPr txBox="1"/>
          <p:nvPr/>
        </p:nvSpPr>
        <p:spPr>
          <a:xfrm>
            <a:off x="1019362" y="5241185"/>
            <a:ext cx="4972500" cy="1477328"/>
          </a:xfrm>
          <a:prstGeom prst="rect">
            <a:avLst/>
          </a:prstGeom>
          <a:noFill/>
        </p:spPr>
        <p:txBody>
          <a:bodyPr wrap="square" rtlCol="0">
            <a:spAutoFit/>
          </a:bodyPr>
          <a:lstStyle/>
          <a:p>
            <a:r>
              <a:rPr lang="en-US" b="1" dirty="0">
                <a:solidFill>
                  <a:schemeClr val="bg1"/>
                </a:solidFill>
              </a:rPr>
              <a:t>Challenges:</a:t>
            </a:r>
            <a:r>
              <a:rPr lang="en-US" dirty="0">
                <a:solidFill>
                  <a:schemeClr val="bg1"/>
                </a:solidFill>
              </a:rPr>
              <a:t> </a:t>
            </a:r>
          </a:p>
          <a:p>
            <a:pPr algn="just"/>
            <a:r>
              <a:rPr lang="en-US" dirty="0">
                <a:solidFill>
                  <a:schemeClr val="bg1"/>
                </a:solidFill>
              </a:rPr>
              <a:t>High volume and complexity make manual analysis difficult, requiring ML models like </a:t>
            </a:r>
            <a:r>
              <a:rPr lang="en-US" dirty="0" err="1">
                <a:solidFill>
                  <a:schemeClr val="bg1"/>
                </a:solidFill>
              </a:rPr>
              <a:t>XGBoost</a:t>
            </a:r>
            <a:r>
              <a:rPr lang="en-US" dirty="0">
                <a:solidFill>
                  <a:schemeClr val="bg1"/>
                </a:solidFill>
              </a:rPr>
              <a:t> for accurate predictions.</a:t>
            </a:r>
          </a:p>
          <a:p>
            <a:endParaRPr lang="en-IN" dirty="0">
              <a:solidFill>
                <a:schemeClr val="bg1"/>
              </a:solidFill>
            </a:endParaRPr>
          </a:p>
        </p:txBody>
      </p:sp>
      <p:sp>
        <p:nvSpPr>
          <p:cNvPr id="18" name="Rectangle 17">
            <a:extLst>
              <a:ext uri="{FF2B5EF4-FFF2-40B4-BE49-F238E27FC236}">
                <a16:creationId xmlns:a16="http://schemas.microsoft.com/office/drawing/2014/main" id="{7D6F2D58-8476-69F1-A615-4306C7B2EF91}"/>
              </a:ext>
            </a:extLst>
          </p:cNvPr>
          <p:cNvSpPr/>
          <p:nvPr/>
        </p:nvSpPr>
        <p:spPr>
          <a:xfrm>
            <a:off x="8040216" y="3429001"/>
            <a:ext cx="2376264" cy="1368152"/>
          </a:xfrm>
          <a:prstGeom prst="rect">
            <a:avLst/>
          </a:prstGeom>
          <a:solidFill>
            <a:srgbClr val="647096"/>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A053B76C-CE28-6C9C-6323-657F61669C57}"/>
              </a:ext>
            </a:extLst>
          </p:cNvPr>
          <p:cNvSpPr txBox="1"/>
          <p:nvPr/>
        </p:nvSpPr>
        <p:spPr>
          <a:xfrm>
            <a:off x="8110252" y="3501008"/>
            <a:ext cx="2160240" cy="1477328"/>
          </a:xfrm>
          <a:prstGeom prst="rect">
            <a:avLst/>
          </a:prstGeom>
          <a:noFill/>
        </p:spPr>
        <p:txBody>
          <a:bodyPr wrap="square" rtlCol="0">
            <a:spAutoFit/>
          </a:bodyPr>
          <a:lstStyle/>
          <a:p>
            <a:pPr algn="ctr"/>
            <a:r>
              <a:rPr lang="en-US" b="1" dirty="0">
                <a:solidFill>
                  <a:schemeClr val="bg1"/>
                </a:solidFill>
              </a:rPr>
              <a:t>Training Dataset:</a:t>
            </a:r>
            <a:br>
              <a:rPr lang="en-US" dirty="0">
                <a:solidFill>
                  <a:schemeClr val="bg1"/>
                </a:solidFill>
              </a:rPr>
            </a:br>
            <a:r>
              <a:rPr lang="en-US" dirty="0">
                <a:solidFill>
                  <a:schemeClr val="bg1"/>
                </a:solidFill>
              </a:rPr>
              <a:t>• 18 Cities</a:t>
            </a:r>
            <a:br>
              <a:rPr lang="en-US" dirty="0">
                <a:solidFill>
                  <a:schemeClr val="bg1"/>
                </a:solidFill>
              </a:rPr>
            </a:br>
            <a:r>
              <a:rPr lang="en-US" dirty="0">
                <a:solidFill>
                  <a:schemeClr val="bg1"/>
                </a:solidFill>
              </a:rPr>
              <a:t>• 736 Products</a:t>
            </a:r>
            <a:br>
              <a:rPr lang="en-US" dirty="0">
                <a:solidFill>
                  <a:schemeClr val="bg1"/>
                </a:solidFill>
              </a:rPr>
            </a:br>
            <a:r>
              <a:rPr lang="en-US" dirty="0">
                <a:solidFill>
                  <a:schemeClr val="bg1"/>
                </a:solidFill>
              </a:rPr>
              <a:t>• 876 Stores</a:t>
            </a:r>
            <a:endParaRPr lang="en-IN" dirty="0">
              <a:solidFill>
                <a:schemeClr val="bg1"/>
              </a:solidFill>
            </a:endParaRPr>
          </a:p>
          <a:p>
            <a:endParaRPr lang="en-IN" dirty="0"/>
          </a:p>
        </p:txBody>
      </p:sp>
      <p:pic>
        <p:nvPicPr>
          <p:cNvPr id="27" name="Picture 26">
            <a:extLst>
              <a:ext uri="{FF2B5EF4-FFF2-40B4-BE49-F238E27FC236}">
                <a16:creationId xmlns:a16="http://schemas.microsoft.com/office/drawing/2014/main" id="{5A61A486-FC5A-5486-EA7B-ACD9C2C79F62}"/>
              </a:ext>
            </a:extLst>
          </p:cNvPr>
          <p:cNvPicPr>
            <a:picLocks noChangeAspect="1"/>
          </p:cNvPicPr>
          <p:nvPr/>
        </p:nvPicPr>
        <p:blipFill>
          <a:blip r:embed="rId3">
            <a:extLst>
              <a:ext uri="{28A0092B-C50C-407E-A947-70E740481C1C}">
                <a14:useLocalDpi xmlns:a14="http://schemas.microsoft.com/office/drawing/2010/main" val="0"/>
              </a:ext>
            </a:extLst>
          </a:blip>
          <a:srcRect t="25567" b="25453"/>
          <a:stretch>
            <a:fillRect/>
          </a:stretch>
        </p:blipFill>
        <p:spPr>
          <a:xfrm>
            <a:off x="10192384" y="463801"/>
            <a:ext cx="1584176" cy="48495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4554417" y="396594"/>
            <a:ext cx="3312951" cy="487313"/>
          </a:xfrm>
          <a:prstGeom prst="rect">
            <a:avLst/>
          </a:prstGeom>
        </p:spPr>
        <p:txBody>
          <a:bodyPr vert="horz" wrap="square" lIns="0" tIns="0" rIns="0" bIns="0" rtlCol="0">
            <a:spAutoFit/>
          </a:bodyPr>
          <a:lstStyle/>
          <a:p>
            <a:pPr marL="0" marR="0" algn="ctr">
              <a:lnSpc>
                <a:spcPts val="3751"/>
              </a:lnSpc>
              <a:spcBef>
                <a:spcPts val="0"/>
              </a:spcBef>
              <a:spcAft>
                <a:spcPts val="0"/>
              </a:spcAft>
            </a:pPr>
            <a:r>
              <a:rPr lang="en-IN" sz="3600" b="1" dirty="0">
                <a:solidFill>
                  <a:srgbClr val="FFFFFF"/>
                </a:solidFill>
                <a:latin typeface="OQWKHA+SegoeUI-Bold"/>
                <a:cs typeface="OQWKHA+SegoeUI-Bold"/>
              </a:rPr>
              <a:t>Key Features</a:t>
            </a:r>
            <a:endParaRPr sz="3600" b="1" dirty="0">
              <a:solidFill>
                <a:srgbClr val="FFFFFF"/>
              </a:solidFill>
              <a:latin typeface="OQWKHA+SegoeUI-Bold"/>
              <a:cs typeface="OQWKHA+SegoeUI-Bold"/>
            </a:endParaRPr>
          </a:p>
        </p:txBody>
      </p:sp>
      <p:sp>
        <p:nvSpPr>
          <p:cNvPr id="7" name="TextBox 6">
            <a:extLst>
              <a:ext uri="{FF2B5EF4-FFF2-40B4-BE49-F238E27FC236}">
                <a16:creationId xmlns:a16="http://schemas.microsoft.com/office/drawing/2014/main" id="{DB4CE6DA-5D50-4800-A360-E09F91FB027E}"/>
              </a:ext>
            </a:extLst>
          </p:cNvPr>
          <p:cNvSpPr txBox="1"/>
          <p:nvPr/>
        </p:nvSpPr>
        <p:spPr>
          <a:xfrm>
            <a:off x="5375920" y="1469571"/>
            <a:ext cx="6816080" cy="4524315"/>
          </a:xfrm>
          <a:prstGeom prst="rect">
            <a:avLst/>
          </a:prstGeom>
          <a:noFill/>
        </p:spPr>
        <p:txBody>
          <a:bodyPr wrap="square" rtlCol="0">
            <a:spAutoFit/>
          </a:bodyPr>
          <a:lstStyle/>
          <a:p>
            <a:r>
              <a:rPr lang="en-US" sz="2400" dirty="0">
                <a:solidFill>
                  <a:schemeClr val="bg1"/>
                </a:solidFill>
              </a:rPr>
              <a:t>• </a:t>
            </a:r>
            <a:r>
              <a:rPr lang="en-US" sz="2300" dirty="0">
                <a:solidFill>
                  <a:schemeClr val="bg1"/>
                </a:solidFill>
              </a:rPr>
              <a:t>AI-based sales forecasting using </a:t>
            </a:r>
            <a:r>
              <a:rPr lang="en-US" sz="2300" dirty="0" err="1">
                <a:solidFill>
                  <a:schemeClr val="bg1"/>
                </a:solidFill>
              </a:rPr>
              <a:t>XGBoost</a:t>
            </a:r>
            <a:endParaRPr lang="en-US" sz="2300" dirty="0">
              <a:solidFill>
                <a:schemeClr val="bg1"/>
              </a:solidFill>
            </a:endParaRPr>
          </a:p>
          <a:p>
            <a:br>
              <a:rPr lang="en-US" sz="2300" dirty="0">
                <a:solidFill>
                  <a:schemeClr val="bg1"/>
                </a:solidFill>
              </a:rPr>
            </a:br>
            <a:r>
              <a:rPr lang="en-US" sz="2300" dirty="0">
                <a:solidFill>
                  <a:schemeClr val="bg1"/>
                </a:solidFill>
              </a:rPr>
              <a:t>• Real-time inventory tracking across stores</a:t>
            </a:r>
          </a:p>
          <a:p>
            <a:br>
              <a:rPr lang="en-US" sz="2300" dirty="0">
                <a:solidFill>
                  <a:schemeClr val="bg1"/>
                </a:solidFill>
              </a:rPr>
            </a:br>
            <a:r>
              <a:rPr lang="en-US" sz="2300" dirty="0">
                <a:solidFill>
                  <a:schemeClr val="bg1"/>
                </a:solidFill>
              </a:rPr>
              <a:t>• Automated alerts for understock and overstock</a:t>
            </a:r>
          </a:p>
          <a:p>
            <a:br>
              <a:rPr lang="en-US" sz="2300" dirty="0">
                <a:solidFill>
                  <a:schemeClr val="bg1"/>
                </a:solidFill>
              </a:rPr>
            </a:br>
            <a:r>
              <a:rPr lang="en-US" sz="2300" dirty="0">
                <a:solidFill>
                  <a:schemeClr val="bg1"/>
                </a:solidFill>
              </a:rPr>
              <a:t>• Role-based authentication for Admin &amp; Managers</a:t>
            </a:r>
          </a:p>
          <a:p>
            <a:br>
              <a:rPr lang="en-US" sz="2300" dirty="0">
                <a:solidFill>
                  <a:schemeClr val="bg1"/>
                </a:solidFill>
              </a:rPr>
            </a:br>
            <a:r>
              <a:rPr lang="en-US" sz="2300" dirty="0">
                <a:solidFill>
                  <a:schemeClr val="bg1"/>
                </a:solidFill>
              </a:rPr>
              <a:t>• Centralized PostgreSQL cloud database</a:t>
            </a:r>
          </a:p>
          <a:p>
            <a:br>
              <a:rPr lang="en-US" sz="2300" dirty="0">
                <a:solidFill>
                  <a:schemeClr val="bg1"/>
                </a:solidFill>
              </a:rPr>
            </a:br>
            <a:r>
              <a:rPr lang="en-US" sz="2300" dirty="0">
                <a:solidFill>
                  <a:schemeClr val="bg1"/>
                </a:solidFill>
              </a:rPr>
              <a:t>• Interactive dashboard with stock &amp; forecast insights</a:t>
            </a:r>
          </a:p>
          <a:p>
            <a:r>
              <a:rPr lang="en-US" sz="2400" dirty="0">
                <a:solidFill>
                  <a:schemeClr val="bg1"/>
                </a:solidFill>
              </a:rPr>
              <a:t> </a:t>
            </a:r>
            <a:endParaRPr lang="en-IN" sz="2400" dirty="0">
              <a:solidFill>
                <a:schemeClr val="bg1"/>
              </a:solidFill>
            </a:endParaRPr>
          </a:p>
        </p:txBody>
      </p:sp>
      <p:pic>
        <p:nvPicPr>
          <p:cNvPr id="9" name="Picture 8" descr="A close-up of a logo&#10;&#10;AI-generated content may be incorrect.">
            <a:extLst>
              <a:ext uri="{FF2B5EF4-FFF2-40B4-BE49-F238E27FC236}">
                <a16:creationId xmlns:a16="http://schemas.microsoft.com/office/drawing/2014/main" id="{34C74B18-64E9-D650-79DD-A65B65748A7A}"/>
              </a:ext>
            </a:extLst>
          </p:cNvPr>
          <p:cNvPicPr>
            <a:picLocks noChangeAspect="1"/>
          </p:cNvPicPr>
          <p:nvPr/>
        </p:nvPicPr>
        <p:blipFill>
          <a:blip r:embed="rId3">
            <a:extLst>
              <a:ext uri="{28A0092B-C50C-407E-A947-70E740481C1C}">
                <a14:useLocalDpi xmlns:a14="http://schemas.microsoft.com/office/drawing/2010/main" val="0"/>
              </a:ext>
            </a:extLst>
          </a:blip>
          <a:srcRect t="24800" b="24771"/>
          <a:stretch>
            <a:fillRect/>
          </a:stretch>
        </p:blipFill>
        <p:spPr>
          <a:xfrm>
            <a:off x="10416480" y="494611"/>
            <a:ext cx="1172353" cy="3892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4990306" y="495787"/>
            <a:ext cx="2896344" cy="487313"/>
          </a:xfrm>
          <a:prstGeom prst="rect">
            <a:avLst/>
          </a:prstGeom>
        </p:spPr>
        <p:txBody>
          <a:bodyPr vert="horz" wrap="square" lIns="0" tIns="0" rIns="0" bIns="0" rtlCol="0">
            <a:spAutoFit/>
          </a:bodyPr>
          <a:lstStyle/>
          <a:p>
            <a:pPr marL="0" marR="0">
              <a:lnSpc>
                <a:spcPts val="3751"/>
              </a:lnSpc>
              <a:spcBef>
                <a:spcPts val="0"/>
              </a:spcBef>
              <a:spcAft>
                <a:spcPts val="0"/>
              </a:spcAft>
            </a:pPr>
            <a:endParaRPr sz="3600" b="1" dirty="0">
              <a:solidFill>
                <a:srgbClr val="FFFFFF"/>
              </a:solidFill>
              <a:latin typeface="OQWKHA+SegoeUI-Bold"/>
              <a:cs typeface="OQWKHA+SegoeUI-Bold"/>
            </a:endParaRPr>
          </a:p>
        </p:txBody>
      </p:sp>
      <p:sp>
        <p:nvSpPr>
          <p:cNvPr id="13" name="TextBox 12">
            <a:extLst>
              <a:ext uri="{FF2B5EF4-FFF2-40B4-BE49-F238E27FC236}">
                <a16:creationId xmlns:a16="http://schemas.microsoft.com/office/drawing/2014/main" id="{1459766F-66C6-0005-6358-495AFF664157}"/>
              </a:ext>
            </a:extLst>
          </p:cNvPr>
          <p:cNvSpPr txBox="1"/>
          <p:nvPr/>
        </p:nvSpPr>
        <p:spPr>
          <a:xfrm>
            <a:off x="1919536" y="329419"/>
            <a:ext cx="7776864" cy="579646"/>
          </a:xfrm>
          <a:prstGeom prst="rect">
            <a:avLst/>
          </a:prstGeom>
          <a:noFill/>
        </p:spPr>
        <p:txBody>
          <a:bodyPr wrap="square" rtlCol="0">
            <a:spAutoFit/>
          </a:bodyPr>
          <a:lstStyle/>
          <a:p>
            <a:pPr algn="ctr">
              <a:lnSpc>
                <a:spcPts val="3751"/>
              </a:lnSpc>
            </a:pPr>
            <a:r>
              <a:rPr lang="en-IN" sz="3600" b="1" dirty="0">
                <a:solidFill>
                  <a:srgbClr val="FFFFFF"/>
                </a:solidFill>
                <a:latin typeface="OQWKHA+SegoeUI-Bold"/>
                <a:cs typeface="OQWKHA+SegoeUI-Bold"/>
              </a:rPr>
              <a:t>Tools and Technologies</a:t>
            </a:r>
          </a:p>
        </p:txBody>
      </p:sp>
      <p:sp>
        <p:nvSpPr>
          <p:cNvPr id="11" name="TextBox 10">
            <a:extLst>
              <a:ext uri="{FF2B5EF4-FFF2-40B4-BE49-F238E27FC236}">
                <a16:creationId xmlns:a16="http://schemas.microsoft.com/office/drawing/2014/main" id="{E6970971-A835-F211-FBF4-AD8288CB25E7}"/>
              </a:ext>
            </a:extLst>
          </p:cNvPr>
          <p:cNvSpPr txBox="1"/>
          <p:nvPr/>
        </p:nvSpPr>
        <p:spPr>
          <a:xfrm>
            <a:off x="6818760" y="1870111"/>
            <a:ext cx="5303912" cy="400110"/>
          </a:xfrm>
          <a:prstGeom prst="rect">
            <a:avLst/>
          </a:prstGeom>
          <a:noFill/>
        </p:spPr>
        <p:txBody>
          <a:bodyPr wrap="square" rtlCol="0">
            <a:spAutoFit/>
          </a:bodyPr>
          <a:lstStyle/>
          <a:p>
            <a:endParaRPr lang="en-IN" sz="2000" dirty="0">
              <a:solidFill>
                <a:schemeClr val="bg2"/>
              </a:solidFill>
            </a:endParaRPr>
          </a:p>
        </p:txBody>
      </p:sp>
      <p:sp>
        <p:nvSpPr>
          <p:cNvPr id="15" name="TextBox 14">
            <a:extLst>
              <a:ext uri="{FF2B5EF4-FFF2-40B4-BE49-F238E27FC236}">
                <a16:creationId xmlns:a16="http://schemas.microsoft.com/office/drawing/2014/main" id="{33AA032A-53DA-C0A4-B2CB-8DF5ED192484}"/>
              </a:ext>
            </a:extLst>
          </p:cNvPr>
          <p:cNvSpPr txBox="1"/>
          <p:nvPr/>
        </p:nvSpPr>
        <p:spPr>
          <a:xfrm>
            <a:off x="6858779" y="2548190"/>
            <a:ext cx="5263893" cy="400110"/>
          </a:xfrm>
          <a:prstGeom prst="rect">
            <a:avLst/>
          </a:prstGeom>
          <a:noFill/>
        </p:spPr>
        <p:txBody>
          <a:bodyPr wrap="square" rtlCol="0">
            <a:spAutoFit/>
          </a:bodyPr>
          <a:lstStyle/>
          <a:p>
            <a:endParaRPr lang="en-IN" sz="2000" dirty="0">
              <a:solidFill>
                <a:schemeClr val="bg2"/>
              </a:solidFill>
            </a:endParaRPr>
          </a:p>
        </p:txBody>
      </p:sp>
      <p:sp>
        <p:nvSpPr>
          <p:cNvPr id="18" name="TextBox 17">
            <a:extLst>
              <a:ext uri="{FF2B5EF4-FFF2-40B4-BE49-F238E27FC236}">
                <a16:creationId xmlns:a16="http://schemas.microsoft.com/office/drawing/2014/main" id="{C2A01B80-B8E4-70D2-150D-826A41793315}"/>
              </a:ext>
            </a:extLst>
          </p:cNvPr>
          <p:cNvSpPr txBox="1"/>
          <p:nvPr/>
        </p:nvSpPr>
        <p:spPr>
          <a:xfrm>
            <a:off x="6858779" y="3157232"/>
            <a:ext cx="4176464" cy="400110"/>
          </a:xfrm>
          <a:prstGeom prst="rect">
            <a:avLst/>
          </a:prstGeom>
          <a:noFill/>
        </p:spPr>
        <p:txBody>
          <a:bodyPr wrap="square" rtlCol="0">
            <a:spAutoFit/>
          </a:bodyPr>
          <a:lstStyle/>
          <a:p>
            <a:endParaRPr lang="en-IN" sz="2000" dirty="0">
              <a:solidFill>
                <a:schemeClr val="bg2"/>
              </a:solidFill>
            </a:endParaRPr>
          </a:p>
        </p:txBody>
      </p:sp>
      <p:sp>
        <p:nvSpPr>
          <p:cNvPr id="21" name="TextBox 20">
            <a:extLst>
              <a:ext uri="{FF2B5EF4-FFF2-40B4-BE49-F238E27FC236}">
                <a16:creationId xmlns:a16="http://schemas.microsoft.com/office/drawing/2014/main" id="{B4483C97-7331-1B2D-BB91-3837B9AEA66F}"/>
              </a:ext>
            </a:extLst>
          </p:cNvPr>
          <p:cNvSpPr txBox="1"/>
          <p:nvPr/>
        </p:nvSpPr>
        <p:spPr>
          <a:xfrm>
            <a:off x="6843710" y="3780709"/>
            <a:ext cx="4824536" cy="400110"/>
          </a:xfrm>
          <a:prstGeom prst="rect">
            <a:avLst/>
          </a:prstGeom>
          <a:noFill/>
        </p:spPr>
        <p:txBody>
          <a:bodyPr wrap="square" rtlCol="0">
            <a:spAutoFit/>
          </a:bodyPr>
          <a:lstStyle/>
          <a:p>
            <a:endParaRPr lang="en-IN" sz="2000" dirty="0">
              <a:solidFill>
                <a:schemeClr val="bg2"/>
              </a:solidFill>
            </a:endParaRPr>
          </a:p>
        </p:txBody>
      </p:sp>
      <p:sp>
        <p:nvSpPr>
          <p:cNvPr id="24" name="TextBox 23">
            <a:extLst>
              <a:ext uri="{FF2B5EF4-FFF2-40B4-BE49-F238E27FC236}">
                <a16:creationId xmlns:a16="http://schemas.microsoft.com/office/drawing/2014/main" id="{491744BF-8A8B-1C72-FAE1-8E11EDE58F7D}"/>
              </a:ext>
            </a:extLst>
          </p:cNvPr>
          <p:cNvSpPr txBox="1"/>
          <p:nvPr/>
        </p:nvSpPr>
        <p:spPr>
          <a:xfrm>
            <a:off x="6934441" y="4423671"/>
            <a:ext cx="5112568" cy="400110"/>
          </a:xfrm>
          <a:prstGeom prst="rect">
            <a:avLst/>
          </a:prstGeom>
          <a:noFill/>
        </p:spPr>
        <p:txBody>
          <a:bodyPr wrap="square" rtlCol="0">
            <a:spAutoFit/>
          </a:bodyPr>
          <a:lstStyle/>
          <a:p>
            <a:endParaRPr lang="en-IN" sz="2000" dirty="0">
              <a:solidFill>
                <a:schemeClr val="bg2"/>
              </a:solidFill>
            </a:endParaRPr>
          </a:p>
        </p:txBody>
      </p:sp>
      <p:sp>
        <p:nvSpPr>
          <p:cNvPr id="4" name="TextBox 3">
            <a:extLst>
              <a:ext uri="{FF2B5EF4-FFF2-40B4-BE49-F238E27FC236}">
                <a16:creationId xmlns:a16="http://schemas.microsoft.com/office/drawing/2014/main" id="{0F785295-BBB4-71F3-C3A3-828030A834C5}"/>
              </a:ext>
            </a:extLst>
          </p:cNvPr>
          <p:cNvSpPr txBox="1"/>
          <p:nvPr/>
        </p:nvSpPr>
        <p:spPr>
          <a:xfrm>
            <a:off x="6818760" y="1541167"/>
            <a:ext cx="2453632" cy="1754326"/>
          </a:xfrm>
          <a:prstGeom prst="rect">
            <a:avLst/>
          </a:prstGeom>
          <a:noFill/>
        </p:spPr>
        <p:txBody>
          <a:bodyPr wrap="square" rtlCol="0">
            <a:spAutoFit/>
          </a:bodyPr>
          <a:lstStyle/>
          <a:p>
            <a:r>
              <a:rPr lang="en-IN" b="1" dirty="0">
                <a:solidFill>
                  <a:schemeClr val="bg1"/>
                </a:solidFill>
              </a:rPr>
              <a:t>Backend &amp; Frameworks </a:t>
            </a:r>
          </a:p>
          <a:p>
            <a:pPr marL="285750" indent="-285750">
              <a:buFont typeface="Arial" panose="020B0604020202020204" pitchFamily="34" charset="0"/>
              <a:buChar char="•"/>
            </a:pPr>
            <a:r>
              <a:rPr lang="en-IN" dirty="0">
                <a:solidFill>
                  <a:schemeClr val="bg1"/>
                </a:solidFill>
              </a:rPr>
              <a:t>Python</a:t>
            </a:r>
          </a:p>
          <a:p>
            <a:pPr marL="285750" indent="-285750">
              <a:buFont typeface="Arial" panose="020B0604020202020204" pitchFamily="34" charset="0"/>
              <a:buChar char="•"/>
            </a:pPr>
            <a:r>
              <a:rPr lang="en-IN" dirty="0">
                <a:solidFill>
                  <a:schemeClr val="bg1"/>
                </a:solidFill>
              </a:rPr>
              <a:t>Flask</a:t>
            </a:r>
          </a:p>
          <a:p>
            <a:pPr marL="285750" indent="-285750">
              <a:buFont typeface="Arial" panose="020B0604020202020204" pitchFamily="34" charset="0"/>
              <a:buChar char="•"/>
            </a:pPr>
            <a:r>
              <a:rPr lang="en-IN" dirty="0">
                <a:solidFill>
                  <a:schemeClr val="bg1"/>
                </a:solidFill>
              </a:rPr>
              <a:t>Flask-Login</a:t>
            </a:r>
          </a:p>
          <a:p>
            <a:pPr marL="285750" indent="-285750">
              <a:buFont typeface="Arial" panose="020B0604020202020204" pitchFamily="34" charset="0"/>
              <a:buChar char="•"/>
            </a:pPr>
            <a:r>
              <a:rPr lang="en-IN" dirty="0">
                <a:solidFill>
                  <a:schemeClr val="bg1"/>
                </a:solidFill>
              </a:rPr>
              <a:t>REST APIs</a:t>
            </a:r>
          </a:p>
          <a:p>
            <a:endParaRPr lang="en-IN" dirty="0">
              <a:solidFill>
                <a:schemeClr val="bg1"/>
              </a:solidFill>
            </a:endParaRPr>
          </a:p>
        </p:txBody>
      </p:sp>
      <p:sp>
        <p:nvSpPr>
          <p:cNvPr id="5" name="TextBox 4">
            <a:extLst>
              <a:ext uri="{FF2B5EF4-FFF2-40B4-BE49-F238E27FC236}">
                <a16:creationId xmlns:a16="http://schemas.microsoft.com/office/drawing/2014/main" id="{8E949DEC-C3CE-BEEE-9512-3B78430994D3}"/>
              </a:ext>
            </a:extLst>
          </p:cNvPr>
          <p:cNvSpPr txBox="1"/>
          <p:nvPr/>
        </p:nvSpPr>
        <p:spPr>
          <a:xfrm>
            <a:off x="9686935" y="1541167"/>
            <a:ext cx="2520280" cy="1477328"/>
          </a:xfrm>
          <a:prstGeom prst="rect">
            <a:avLst/>
          </a:prstGeom>
          <a:noFill/>
        </p:spPr>
        <p:txBody>
          <a:bodyPr wrap="square" rtlCol="0">
            <a:spAutoFit/>
          </a:bodyPr>
          <a:lstStyle/>
          <a:p>
            <a:r>
              <a:rPr lang="en-US" b="1" dirty="0">
                <a:solidFill>
                  <a:schemeClr val="bg1"/>
                </a:solidFill>
              </a:rPr>
              <a:t>Machine Learning</a:t>
            </a:r>
          </a:p>
          <a:p>
            <a:pPr marL="285750" indent="-285750">
              <a:buFont typeface="Arial" panose="020B0604020202020204" pitchFamily="34" charset="0"/>
              <a:buChar char="•"/>
            </a:pPr>
            <a:r>
              <a:rPr lang="en-US" dirty="0" err="1">
                <a:solidFill>
                  <a:schemeClr val="bg1"/>
                </a:solidFill>
              </a:rPr>
              <a:t>XGBoost</a:t>
            </a:r>
            <a:endParaRPr lang="en-US" dirty="0">
              <a:solidFill>
                <a:schemeClr val="bg1"/>
              </a:solidFill>
            </a:endParaRPr>
          </a:p>
          <a:p>
            <a:pPr marL="285750" indent="-285750">
              <a:buFont typeface="Arial" panose="020B0604020202020204" pitchFamily="34" charset="0"/>
              <a:buChar char="•"/>
            </a:pPr>
            <a:r>
              <a:rPr lang="en-US" dirty="0">
                <a:solidFill>
                  <a:schemeClr val="bg1"/>
                </a:solidFill>
              </a:rPr>
              <a:t>Pandas</a:t>
            </a:r>
          </a:p>
          <a:p>
            <a:pPr marL="285750" indent="-285750">
              <a:buFont typeface="Arial" panose="020B0604020202020204" pitchFamily="34" charset="0"/>
              <a:buChar char="•"/>
            </a:pPr>
            <a:r>
              <a:rPr lang="en-US" dirty="0">
                <a:solidFill>
                  <a:schemeClr val="bg1"/>
                </a:solidFill>
              </a:rPr>
              <a:t>NumPy</a:t>
            </a:r>
          </a:p>
          <a:p>
            <a:endParaRPr lang="en-IN" dirty="0">
              <a:solidFill>
                <a:schemeClr val="bg1"/>
              </a:solidFill>
            </a:endParaRPr>
          </a:p>
        </p:txBody>
      </p:sp>
      <p:sp>
        <p:nvSpPr>
          <p:cNvPr id="6" name="TextBox 5">
            <a:extLst>
              <a:ext uri="{FF2B5EF4-FFF2-40B4-BE49-F238E27FC236}">
                <a16:creationId xmlns:a16="http://schemas.microsoft.com/office/drawing/2014/main" id="{E3098C53-E07F-E078-5EC3-22AD76638B01}"/>
              </a:ext>
            </a:extLst>
          </p:cNvPr>
          <p:cNvSpPr txBox="1"/>
          <p:nvPr/>
        </p:nvSpPr>
        <p:spPr>
          <a:xfrm>
            <a:off x="6818760" y="3357287"/>
            <a:ext cx="2373584" cy="1754326"/>
          </a:xfrm>
          <a:prstGeom prst="rect">
            <a:avLst/>
          </a:prstGeom>
          <a:noFill/>
        </p:spPr>
        <p:txBody>
          <a:bodyPr wrap="square" rtlCol="0">
            <a:spAutoFit/>
          </a:bodyPr>
          <a:lstStyle/>
          <a:p>
            <a:r>
              <a:rPr lang="en-IN" b="1" dirty="0">
                <a:solidFill>
                  <a:schemeClr val="bg1"/>
                </a:solidFill>
              </a:rPr>
              <a:t>Database &amp; Storage</a:t>
            </a:r>
          </a:p>
          <a:p>
            <a:pPr marL="285750" indent="-285750">
              <a:buFont typeface="Arial" panose="020B0604020202020204" pitchFamily="34" charset="0"/>
              <a:buChar char="•"/>
            </a:pPr>
            <a:r>
              <a:rPr lang="en-IN" dirty="0">
                <a:solidFill>
                  <a:schemeClr val="bg1"/>
                </a:solidFill>
              </a:rPr>
              <a:t>PostgreSQL (Cloud)</a:t>
            </a:r>
          </a:p>
          <a:p>
            <a:pPr marL="285750" indent="-285750">
              <a:buFont typeface="Arial" panose="020B0604020202020204" pitchFamily="34" charset="0"/>
              <a:buChar char="•"/>
            </a:pPr>
            <a:r>
              <a:rPr lang="en-IN" dirty="0">
                <a:solidFill>
                  <a:schemeClr val="bg1"/>
                </a:solidFill>
              </a:rPr>
              <a:t>MySQL (Local)</a:t>
            </a:r>
          </a:p>
          <a:p>
            <a:pPr marL="285750" indent="-285750">
              <a:buFont typeface="Arial" panose="020B0604020202020204" pitchFamily="34" charset="0"/>
              <a:buChar char="•"/>
            </a:pPr>
            <a:r>
              <a:rPr lang="en-IN" dirty="0" err="1">
                <a:solidFill>
                  <a:schemeClr val="bg1"/>
                </a:solidFill>
              </a:rPr>
              <a:t>SQLAlchemy</a:t>
            </a:r>
            <a:endParaRPr lang="en-IN" dirty="0">
              <a:solidFill>
                <a:schemeClr val="bg1"/>
              </a:solidFill>
            </a:endParaRPr>
          </a:p>
          <a:p>
            <a:pPr marL="285750" indent="-285750">
              <a:buFont typeface="Arial" panose="020B0604020202020204" pitchFamily="34" charset="0"/>
              <a:buChar char="•"/>
            </a:pPr>
            <a:r>
              <a:rPr lang="en-IN" dirty="0">
                <a:solidFill>
                  <a:schemeClr val="bg1"/>
                </a:solidFill>
              </a:rPr>
              <a:t>psycopg2</a:t>
            </a:r>
          </a:p>
          <a:p>
            <a:endParaRPr lang="en-IN" dirty="0">
              <a:solidFill>
                <a:schemeClr val="bg1"/>
              </a:solidFill>
            </a:endParaRPr>
          </a:p>
        </p:txBody>
      </p:sp>
      <p:sp>
        <p:nvSpPr>
          <p:cNvPr id="7" name="TextBox 6">
            <a:extLst>
              <a:ext uri="{FF2B5EF4-FFF2-40B4-BE49-F238E27FC236}">
                <a16:creationId xmlns:a16="http://schemas.microsoft.com/office/drawing/2014/main" id="{94A99DBC-D527-EB9E-1570-15AA0D7EDC4B}"/>
              </a:ext>
            </a:extLst>
          </p:cNvPr>
          <p:cNvSpPr txBox="1"/>
          <p:nvPr/>
        </p:nvSpPr>
        <p:spPr>
          <a:xfrm>
            <a:off x="9696400" y="3357287"/>
            <a:ext cx="1971846" cy="1754326"/>
          </a:xfrm>
          <a:prstGeom prst="rect">
            <a:avLst/>
          </a:prstGeom>
          <a:noFill/>
        </p:spPr>
        <p:txBody>
          <a:bodyPr wrap="square" rtlCol="0">
            <a:spAutoFit/>
          </a:bodyPr>
          <a:lstStyle/>
          <a:p>
            <a:r>
              <a:rPr lang="en-IN" b="1" dirty="0">
                <a:solidFill>
                  <a:schemeClr val="bg1"/>
                </a:solidFill>
              </a:rPr>
              <a:t>Frontend</a:t>
            </a:r>
          </a:p>
          <a:p>
            <a:pPr marL="285750" indent="-285750">
              <a:buFont typeface="Arial" panose="020B0604020202020204" pitchFamily="34" charset="0"/>
              <a:buChar char="•"/>
            </a:pPr>
            <a:r>
              <a:rPr lang="en-IN" dirty="0">
                <a:solidFill>
                  <a:schemeClr val="bg1"/>
                </a:solidFill>
              </a:rPr>
              <a:t>HTML</a:t>
            </a:r>
          </a:p>
          <a:p>
            <a:pPr marL="285750" indent="-285750">
              <a:buFont typeface="Arial" panose="020B0604020202020204" pitchFamily="34" charset="0"/>
              <a:buChar char="•"/>
            </a:pPr>
            <a:r>
              <a:rPr lang="en-IN" dirty="0">
                <a:solidFill>
                  <a:schemeClr val="bg1"/>
                </a:solidFill>
              </a:rPr>
              <a:t>CSS</a:t>
            </a:r>
          </a:p>
          <a:p>
            <a:pPr marL="285750" indent="-285750">
              <a:buFont typeface="Arial" panose="020B0604020202020204" pitchFamily="34" charset="0"/>
              <a:buChar char="•"/>
            </a:pPr>
            <a:r>
              <a:rPr lang="en-IN" dirty="0">
                <a:solidFill>
                  <a:schemeClr val="bg1"/>
                </a:solidFill>
              </a:rPr>
              <a:t>JavaScript</a:t>
            </a:r>
          </a:p>
          <a:p>
            <a:pPr marL="285750" indent="-285750">
              <a:buFont typeface="Arial" panose="020B0604020202020204" pitchFamily="34" charset="0"/>
              <a:buChar char="•"/>
            </a:pPr>
            <a:r>
              <a:rPr lang="en-IN" dirty="0">
                <a:solidFill>
                  <a:schemeClr val="bg1"/>
                </a:solidFill>
              </a:rPr>
              <a:t>Bootstrap</a:t>
            </a:r>
          </a:p>
          <a:p>
            <a:endParaRPr lang="en-IN" dirty="0">
              <a:solidFill>
                <a:schemeClr val="bg1"/>
              </a:solidFill>
            </a:endParaRPr>
          </a:p>
        </p:txBody>
      </p:sp>
      <p:sp>
        <p:nvSpPr>
          <p:cNvPr id="8" name="TextBox 7">
            <a:extLst>
              <a:ext uri="{FF2B5EF4-FFF2-40B4-BE49-F238E27FC236}">
                <a16:creationId xmlns:a16="http://schemas.microsoft.com/office/drawing/2014/main" id="{5B90A598-2E6F-1EBE-21DD-31C24FB033EE}"/>
              </a:ext>
            </a:extLst>
          </p:cNvPr>
          <p:cNvSpPr txBox="1"/>
          <p:nvPr/>
        </p:nvSpPr>
        <p:spPr>
          <a:xfrm>
            <a:off x="6818760" y="5082366"/>
            <a:ext cx="2981637" cy="1754326"/>
          </a:xfrm>
          <a:prstGeom prst="rect">
            <a:avLst/>
          </a:prstGeom>
          <a:noFill/>
        </p:spPr>
        <p:txBody>
          <a:bodyPr wrap="square" rtlCol="0">
            <a:spAutoFit/>
          </a:bodyPr>
          <a:lstStyle/>
          <a:p>
            <a:r>
              <a:rPr lang="en-IN" b="1" dirty="0">
                <a:solidFill>
                  <a:schemeClr val="bg1"/>
                </a:solidFill>
              </a:rPr>
              <a:t>Development &amp;Deployment</a:t>
            </a:r>
          </a:p>
          <a:p>
            <a:pPr marL="285750" indent="-285750">
              <a:buFont typeface="Arial" panose="020B0604020202020204" pitchFamily="34" charset="0"/>
              <a:buChar char="•"/>
            </a:pPr>
            <a:r>
              <a:rPr lang="en-IN" dirty="0">
                <a:solidFill>
                  <a:schemeClr val="bg1"/>
                </a:solidFill>
              </a:rPr>
              <a:t>Render Cloud</a:t>
            </a:r>
          </a:p>
          <a:p>
            <a:pPr marL="285750" indent="-285750">
              <a:buFont typeface="Arial" panose="020B0604020202020204" pitchFamily="34" charset="0"/>
              <a:buChar char="•"/>
            </a:pPr>
            <a:r>
              <a:rPr lang="en-IN" dirty="0">
                <a:solidFill>
                  <a:schemeClr val="bg1"/>
                </a:solidFill>
              </a:rPr>
              <a:t>GitHub</a:t>
            </a:r>
          </a:p>
          <a:p>
            <a:pPr marL="285750" indent="-285750">
              <a:buFont typeface="Arial" panose="020B0604020202020204" pitchFamily="34" charset="0"/>
              <a:buChar char="•"/>
            </a:pPr>
            <a:r>
              <a:rPr lang="en-IN" dirty="0">
                <a:solidFill>
                  <a:schemeClr val="bg1"/>
                </a:solidFill>
              </a:rPr>
              <a:t>VS Code</a:t>
            </a:r>
          </a:p>
          <a:p>
            <a:pPr marL="285750" indent="-285750">
              <a:buFont typeface="Arial" panose="020B0604020202020204" pitchFamily="34" charset="0"/>
              <a:buChar char="•"/>
            </a:pPr>
            <a:r>
              <a:rPr lang="en-IN" dirty="0">
                <a:solidFill>
                  <a:schemeClr val="bg1"/>
                </a:solidFill>
              </a:rPr>
              <a:t>Postman</a:t>
            </a:r>
          </a:p>
          <a:p>
            <a:endParaRPr lang="en-IN" dirty="0">
              <a:solidFill>
                <a:schemeClr val="bg1"/>
              </a:solidFill>
            </a:endParaRPr>
          </a:p>
        </p:txBody>
      </p:sp>
      <p:sp>
        <p:nvSpPr>
          <p:cNvPr id="9" name="TextBox 8">
            <a:extLst>
              <a:ext uri="{FF2B5EF4-FFF2-40B4-BE49-F238E27FC236}">
                <a16:creationId xmlns:a16="http://schemas.microsoft.com/office/drawing/2014/main" id="{340565B0-5AE8-6A96-2E86-9FB9AB1D85F9}"/>
              </a:ext>
            </a:extLst>
          </p:cNvPr>
          <p:cNvSpPr txBox="1"/>
          <p:nvPr/>
        </p:nvSpPr>
        <p:spPr>
          <a:xfrm>
            <a:off x="9800397" y="5125163"/>
            <a:ext cx="2210248" cy="1200329"/>
          </a:xfrm>
          <a:prstGeom prst="rect">
            <a:avLst/>
          </a:prstGeom>
          <a:noFill/>
        </p:spPr>
        <p:txBody>
          <a:bodyPr wrap="square" rtlCol="0">
            <a:spAutoFit/>
          </a:bodyPr>
          <a:lstStyle/>
          <a:p>
            <a:r>
              <a:rPr lang="sv-SE" b="1" dirty="0">
                <a:solidFill>
                  <a:schemeClr val="bg1"/>
                </a:solidFill>
              </a:rPr>
              <a:t>API &amp; Data Handling</a:t>
            </a:r>
          </a:p>
          <a:p>
            <a:pPr marL="285750" indent="-285750">
              <a:buFont typeface="Arial" panose="020B0604020202020204" pitchFamily="34" charset="0"/>
              <a:buChar char="•"/>
            </a:pPr>
            <a:r>
              <a:rPr lang="sv-SE" dirty="0">
                <a:solidFill>
                  <a:schemeClr val="bg1"/>
                </a:solidFill>
              </a:rPr>
              <a:t>JSON</a:t>
            </a:r>
          </a:p>
          <a:p>
            <a:pPr marL="285750" indent="-285750">
              <a:buFont typeface="Arial" panose="020B0604020202020204" pitchFamily="34" charset="0"/>
              <a:buChar char="•"/>
            </a:pPr>
            <a:r>
              <a:rPr lang="sv-SE" dirty="0">
                <a:solidFill>
                  <a:schemeClr val="bg1"/>
                </a:solidFill>
              </a:rPr>
              <a:t>CSV Processing</a:t>
            </a:r>
          </a:p>
          <a:p>
            <a:endParaRPr lang="en-IN" dirty="0">
              <a:solidFill>
                <a:schemeClr val="bg1"/>
              </a:solidFill>
            </a:endParaRPr>
          </a:p>
        </p:txBody>
      </p:sp>
      <p:pic>
        <p:nvPicPr>
          <p:cNvPr id="22" name="Picture 21" descr="A close-up of a logo&#10;&#10;AI-generated content may be incorrect.">
            <a:extLst>
              <a:ext uri="{FF2B5EF4-FFF2-40B4-BE49-F238E27FC236}">
                <a16:creationId xmlns:a16="http://schemas.microsoft.com/office/drawing/2014/main" id="{7875D192-6F41-842A-72D2-DA8748C7B699}"/>
              </a:ext>
            </a:extLst>
          </p:cNvPr>
          <p:cNvPicPr>
            <a:picLocks noChangeAspect="1"/>
          </p:cNvPicPr>
          <p:nvPr/>
        </p:nvPicPr>
        <p:blipFill>
          <a:blip r:embed="rId3">
            <a:extLst>
              <a:ext uri="{28A0092B-C50C-407E-A947-70E740481C1C}">
                <a14:useLocalDpi xmlns:a14="http://schemas.microsoft.com/office/drawing/2010/main" val="0"/>
              </a:ext>
            </a:extLst>
          </a:blip>
          <a:srcRect t="26057" b="25454"/>
          <a:stretch>
            <a:fillRect/>
          </a:stretch>
        </p:blipFill>
        <p:spPr>
          <a:xfrm>
            <a:off x="10286488" y="519699"/>
            <a:ext cx="1438096" cy="3950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80D44E-F2CD-F6A8-C811-7437D90ABB1C}"/>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21D566FA-7CBE-830D-D1E6-BECAFCEFD996}"/>
              </a:ext>
            </a:extLst>
          </p:cNvPr>
          <p:cNvSpPr/>
          <p:nvPr/>
        </p:nvSpPr>
        <p:spPr>
          <a:xfrm>
            <a:off x="-168696" y="-99392"/>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3" name="Rectangle: Rounded Corners 2">
            <a:extLst>
              <a:ext uri="{FF2B5EF4-FFF2-40B4-BE49-F238E27FC236}">
                <a16:creationId xmlns:a16="http://schemas.microsoft.com/office/drawing/2014/main" id="{8970291D-721C-3D55-AFF0-59D238FCE2E8}"/>
              </a:ext>
            </a:extLst>
          </p:cNvPr>
          <p:cNvSpPr/>
          <p:nvPr/>
        </p:nvSpPr>
        <p:spPr>
          <a:xfrm>
            <a:off x="-168696" y="-99392"/>
            <a:ext cx="12369296" cy="1080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OQWKHA+SegoeUI-Bold" panose="020B0604020202020204"/>
              </a:rPr>
              <a:t>Layers of System </a:t>
            </a:r>
          </a:p>
        </p:txBody>
      </p:sp>
      <p:sp>
        <p:nvSpPr>
          <p:cNvPr id="4" name="TextBox 3">
            <a:extLst>
              <a:ext uri="{FF2B5EF4-FFF2-40B4-BE49-F238E27FC236}">
                <a16:creationId xmlns:a16="http://schemas.microsoft.com/office/drawing/2014/main" id="{09B96850-7530-C542-C0E2-00B36A86908F}"/>
              </a:ext>
            </a:extLst>
          </p:cNvPr>
          <p:cNvSpPr txBox="1"/>
          <p:nvPr/>
        </p:nvSpPr>
        <p:spPr>
          <a:xfrm>
            <a:off x="263352" y="1021687"/>
            <a:ext cx="7416824" cy="5632311"/>
          </a:xfrm>
          <a:prstGeom prst="rect">
            <a:avLst/>
          </a:prstGeom>
          <a:noFill/>
        </p:spPr>
        <p:txBody>
          <a:bodyPr wrap="square" rtlCol="0">
            <a:spAutoFit/>
          </a:bodyPr>
          <a:lstStyle/>
          <a:p>
            <a:r>
              <a:rPr lang="en-US" sz="1600" b="1" dirty="0">
                <a:solidFill>
                  <a:schemeClr val="bg1"/>
                </a:solidFill>
              </a:rPr>
              <a:t>1️⃣ </a:t>
            </a:r>
            <a:r>
              <a:rPr lang="en-US" b="1" dirty="0">
                <a:solidFill>
                  <a:schemeClr val="bg1"/>
                </a:solidFill>
              </a:rPr>
              <a:t>Data Layer</a:t>
            </a:r>
            <a:br>
              <a:rPr lang="en-US" sz="1600" dirty="0">
                <a:solidFill>
                  <a:schemeClr val="bg1"/>
                </a:solidFill>
              </a:rPr>
            </a:br>
            <a:r>
              <a:rPr lang="en-US" sz="1600" dirty="0">
                <a:solidFill>
                  <a:schemeClr val="bg1"/>
                </a:solidFill>
              </a:rPr>
              <a:t>      This is the foundation of our system. It includes all the raw data and storage:</a:t>
            </a:r>
          </a:p>
          <a:p>
            <a:r>
              <a:rPr lang="en-US" sz="1600" b="1" dirty="0">
                <a:solidFill>
                  <a:schemeClr val="bg1"/>
                </a:solidFill>
              </a:rPr>
              <a:t>      FreshRetail50K Dataset</a:t>
            </a:r>
            <a:r>
              <a:rPr lang="en-US" sz="1600" dirty="0">
                <a:solidFill>
                  <a:schemeClr val="bg1"/>
                </a:solidFill>
              </a:rPr>
              <a:t> → the large dataset with sales, stock, and store info.</a:t>
            </a:r>
          </a:p>
          <a:p>
            <a:r>
              <a:rPr lang="en-US" sz="1600" b="1" dirty="0">
                <a:solidFill>
                  <a:schemeClr val="bg1"/>
                </a:solidFill>
              </a:rPr>
              <a:t>      PostgreSQL Cloud Database</a:t>
            </a:r>
            <a:r>
              <a:rPr lang="en-US" sz="1600" dirty="0">
                <a:solidFill>
                  <a:schemeClr val="bg1"/>
                </a:solidFill>
              </a:rPr>
              <a:t> → stores structured data for queries and analysis.</a:t>
            </a:r>
          </a:p>
          <a:p>
            <a:endParaRPr lang="en-US" sz="1600" dirty="0">
              <a:solidFill>
                <a:schemeClr val="bg1"/>
              </a:solidFill>
            </a:endParaRPr>
          </a:p>
          <a:p>
            <a:r>
              <a:rPr lang="en-US" sz="1600" b="1" dirty="0">
                <a:solidFill>
                  <a:schemeClr val="bg1"/>
                </a:solidFill>
              </a:rPr>
              <a:t>2️⃣ </a:t>
            </a:r>
            <a:r>
              <a:rPr lang="en-US" b="1" dirty="0">
                <a:solidFill>
                  <a:schemeClr val="bg1"/>
                </a:solidFill>
              </a:rPr>
              <a:t>Processing Layer</a:t>
            </a:r>
            <a:br>
              <a:rPr lang="en-US" sz="1600" dirty="0">
                <a:solidFill>
                  <a:schemeClr val="bg1"/>
                </a:solidFill>
              </a:rPr>
            </a:br>
            <a:r>
              <a:rPr lang="en-US" sz="1600" dirty="0">
                <a:solidFill>
                  <a:schemeClr val="bg1"/>
                </a:solidFill>
              </a:rPr>
              <a:t>      This is the “brain” of our system where data gets prepared for predictions. Includes:</a:t>
            </a:r>
          </a:p>
          <a:p>
            <a:r>
              <a:rPr lang="en-US" sz="1600" b="1" dirty="0">
                <a:solidFill>
                  <a:schemeClr val="bg1"/>
                </a:solidFill>
              </a:rPr>
              <a:t>      Data preprocessing</a:t>
            </a:r>
            <a:r>
              <a:rPr lang="en-US" sz="1600" dirty="0">
                <a:solidFill>
                  <a:schemeClr val="bg1"/>
                </a:solidFill>
              </a:rPr>
              <a:t> → cleaning and formatting the raw data.</a:t>
            </a:r>
          </a:p>
          <a:p>
            <a:r>
              <a:rPr lang="en-US" sz="1600" b="1" dirty="0">
                <a:solidFill>
                  <a:schemeClr val="bg1"/>
                </a:solidFill>
              </a:rPr>
              <a:t>      Feature engineering</a:t>
            </a:r>
            <a:r>
              <a:rPr lang="en-US" sz="1600" dirty="0">
                <a:solidFill>
                  <a:schemeClr val="bg1"/>
                </a:solidFill>
              </a:rPr>
              <a:t> → creating useful variables/features for the model.</a:t>
            </a:r>
          </a:p>
          <a:p>
            <a:r>
              <a:rPr lang="en-US" sz="1600" b="1" dirty="0">
                <a:solidFill>
                  <a:schemeClr val="bg1"/>
                </a:solidFill>
              </a:rPr>
              <a:t>      </a:t>
            </a:r>
            <a:r>
              <a:rPr lang="en-US" sz="1600" b="1" dirty="0" err="1">
                <a:solidFill>
                  <a:schemeClr val="bg1"/>
                </a:solidFill>
              </a:rPr>
              <a:t>XGBoost</a:t>
            </a:r>
            <a:r>
              <a:rPr lang="en-US" sz="1600" b="1" dirty="0">
                <a:solidFill>
                  <a:schemeClr val="bg1"/>
                </a:solidFill>
              </a:rPr>
              <a:t> model training</a:t>
            </a:r>
            <a:r>
              <a:rPr lang="en-US" sz="1600" dirty="0">
                <a:solidFill>
                  <a:schemeClr val="bg1"/>
                </a:solidFill>
              </a:rPr>
              <a:t> → training the ML model to forecast demand.</a:t>
            </a:r>
          </a:p>
          <a:p>
            <a:endParaRPr lang="en-US" sz="1600" dirty="0">
              <a:solidFill>
                <a:schemeClr val="bg1"/>
              </a:solidFill>
            </a:endParaRPr>
          </a:p>
          <a:p>
            <a:r>
              <a:rPr lang="en-US" sz="1600" b="1" dirty="0">
                <a:solidFill>
                  <a:schemeClr val="bg1"/>
                </a:solidFill>
              </a:rPr>
              <a:t>3️⃣ </a:t>
            </a:r>
            <a:r>
              <a:rPr lang="en-US" b="1" dirty="0">
                <a:solidFill>
                  <a:schemeClr val="bg1"/>
                </a:solidFill>
              </a:rPr>
              <a:t>Application Layer</a:t>
            </a:r>
            <a:br>
              <a:rPr lang="en-US" sz="1600" dirty="0">
                <a:solidFill>
                  <a:schemeClr val="bg1"/>
                </a:solidFill>
              </a:rPr>
            </a:br>
            <a:r>
              <a:rPr lang="en-US" sz="1600" dirty="0">
                <a:solidFill>
                  <a:schemeClr val="bg1"/>
                </a:solidFill>
              </a:rPr>
              <a:t>      This is the backend / server logic connecting data and presentation. Includes:</a:t>
            </a:r>
          </a:p>
          <a:p>
            <a:r>
              <a:rPr lang="en-US" sz="1600" b="1" dirty="0">
                <a:solidFill>
                  <a:schemeClr val="bg1"/>
                </a:solidFill>
              </a:rPr>
              <a:t>      Flask backend APIs</a:t>
            </a:r>
            <a:r>
              <a:rPr lang="en-US" sz="1600" dirty="0">
                <a:solidFill>
                  <a:schemeClr val="bg1"/>
                </a:solidFill>
              </a:rPr>
              <a:t> → handle requests between frontend and backend.</a:t>
            </a:r>
          </a:p>
          <a:p>
            <a:r>
              <a:rPr lang="en-US" sz="1600" b="1" dirty="0">
                <a:solidFill>
                  <a:schemeClr val="bg1"/>
                </a:solidFill>
              </a:rPr>
              <a:t>      Authentication module</a:t>
            </a:r>
            <a:r>
              <a:rPr lang="en-US" sz="1600" dirty="0">
                <a:solidFill>
                  <a:schemeClr val="bg1"/>
                </a:solidFill>
              </a:rPr>
              <a:t> → manage Admin &amp; Manager logins.</a:t>
            </a:r>
          </a:p>
          <a:p>
            <a:r>
              <a:rPr lang="en-US" sz="1600" b="1" dirty="0">
                <a:solidFill>
                  <a:schemeClr val="bg1"/>
                </a:solidFill>
              </a:rPr>
              <a:t>      Forecast prediction engine</a:t>
            </a:r>
            <a:r>
              <a:rPr lang="en-US" sz="1600" dirty="0">
                <a:solidFill>
                  <a:schemeClr val="bg1"/>
                </a:solidFill>
              </a:rPr>
              <a:t> → generates predictions using the trained model.</a:t>
            </a:r>
          </a:p>
          <a:p>
            <a:endParaRPr lang="en-US" sz="1600" dirty="0">
              <a:solidFill>
                <a:schemeClr val="bg1"/>
              </a:solidFill>
            </a:endParaRPr>
          </a:p>
          <a:p>
            <a:r>
              <a:rPr lang="en-US" sz="1600" b="1" dirty="0">
                <a:solidFill>
                  <a:schemeClr val="bg1"/>
                </a:solidFill>
              </a:rPr>
              <a:t>4️⃣ </a:t>
            </a:r>
            <a:r>
              <a:rPr lang="en-US" b="1" dirty="0">
                <a:solidFill>
                  <a:schemeClr val="bg1"/>
                </a:solidFill>
              </a:rPr>
              <a:t>Presentation Layer</a:t>
            </a:r>
            <a:br>
              <a:rPr lang="en-US" sz="1600" dirty="0">
                <a:solidFill>
                  <a:schemeClr val="bg1"/>
                </a:solidFill>
              </a:rPr>
            </a:br>
            <a:r>
              <a:rPr lang="en-US" sz="1600" dirty="0">
                <a:solidFill>
                  <a:schemeClr val="bg1"/>
                </a:solidFill>
              </a:rPr>
              <a:t>      This is the user interface, what the user sees and interacts. Includes:</a:t>
            </a:r>
          </a:p>
          <a:p>
            <a:r>
              <a:rPr lang="en-US" sz="1600" b="1" dirty="0">
                <a:solidFill>
                  <a:schemeClr val="bg1"/>
                </a:solidFill>
              </a:rPr>
              <a:t>      Web-based dashboard</a:t>
            </a:r>
            <a:r>
              <a:rPr lang="en-US" sz="1600" dirty="0">
                <a:solidFill>
                  <a:schemeClr val="bg1"/>
                </a:solidFill>
              </a:rPr>
              <a:t> → displays sales, stock, alerts, and forecasts.</a:t>
            </a:r>
          </a:p>
          <a:p>
            <a:r>
              <a:rPr lang="en-US" sz="1600" b="1" dirty="0">
                <a:solidFill>
                  <a:schemeClr val="bg1"/>
                </a:solidFill>
              </a:rPr>
              <a:t>      Inventory monitoring tables</a:t>
            </a:r>
            <a:r>
              <a:rPr lang="en-US" sz="1600" dirty="0">
                <a:solidFill>
                  <a:schemeClr val="bg1"/>
                </a:solidFill>
              </a:rPr>
              <a:t> → track real-time stock across stores.</a:t>
            </a:r>
          </a:p>
          <a:p>
            <a:endParaRPr lang="en-IN" sz="1600" dirty="0">
              <a:solidFill>
                <a:schemeClr val="bg1"/>
              </a:solidFill>
            </a:endParaRPr>
          </a:p>
        </p:txBody>
      </p:sp>
      <p:sp>
        <p:nvSpPr>
          <p:cNvPr id="5" name="AutoShape 2" descr="Generated image">
            <a:extLst>
              <a:ext uri="{FF2B5EF4-FFF2-40B4-BE49-F238E27FC236}">
                <a16:creationId xmlns:a16="http://schemas.microsoft.com/office/drawing/2014/main" id="{C6973972-6963-A144-E687-20E46E5AC4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descr="A diagram of layers of a layer&#10;&#10;AI-generated content may be incorrect.">
            <a:extLst>
              <a:ext uri="{FF2B5EF4-FFF2-40B4-BE49-F238E27FC236}">
                <a16:creationId xmlns:a16="http://schemas.microsoft.com/office/drawing/2014/main" id="{DF16193A-3436-BB39-ED3D-9BC3159E4205}"/>
              </a:ext>
            </a:extLst>
          </p:cNvPr>
          <p:cNvPicPr>
            <a:picLocks noChangeAspect="1"/>
          </p:cNvPicPr>
          <p:nvPr/>
        </p:nvPicPr>
        <p:blipFill>
          <a:blip r:embed="rId3" cstate="print">
            <a:extLst>
              <a:ext uri="{28A0092B-C50C-407E-A947-70E740481C1C}">
                <a14:useLocalDpi xmlns:a14="http://schemas.microsoft.com/office/drawing/2010/main" val="0"/>
              </a:ext>
            </a:extLst>
          </a:blip>
          <a:srcRect t="4203" b="19230"/>
          <a:stretch>
            <a:fillRect/>
          </a:stretch>
        </p:blipFill>
        <p:spPr>
          <a:xfrm>
            <a:off x="7968208" y="1596559"/>
            <a:ext cx="3456384" cy="3969681"/>
          </a:xfrm>
          <a:prstGeom prst="rect">
            <a:avLst/>
          </a:prstGeom>
        </p:spPr>
      </p:pic>
      <p:pic>
        <p:nvPicPr>
          <p:cNvPr id="13" name="Picture 12" descr="A close-up of a logo&#10;&#10;AI-generated content may be incorrect.">
            <a:extLst>
              <a:ext uri="{FF2B5EF4-FFF2-40B4-BE49-F238E27FC236}">
                <a16:creationId xmlns:a16="http://schemas.microsoft.com/office/drawing/2014/main" id="{E1E261AA-0624-2802-6B7F-978D8808C4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00456" y="246355"/>
            <a:ext cx="1584176" cy="3892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190633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7AF8F8-351D-0D6A-9769-B940FDE8331E}"/>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DCE90B26-62F9-E80A-7345-55E26CD97034}"/>
              </a:ext>
            </a:extLst>
          </p:cNvPr>
          <p:cNvSpPr/>
          <p:nvPr/>
        </p:nvSpPr>
        <p:spPr>
          <a:xfrm>
            <a:off x="-168696" y="-99392"/>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3" name="Rectangle: Rounded Corners 2">
            <a:extLst>
              <a:ext uri="{FF2B5EF4-FFF2-40B4-BE49-F238E27FC236}">
                <a16:creationId xmlns:a16="http://schemas.microsoft.com/office/drawing/2014/main" id="{0EB9E890-A6C7-ED43-005C-C12FA0E79C01}"/>
              </a:ext>
            </a:extLst>
          </p:cNvPr>
          <p:cNvSpPr/>
          <p:nvPr/>
        </p:nvSpPr>
        <p:spPr>
          <a:xfrm>
            <a:off x="-168696" y="-98634"/>
            <a:ext cx="12369296" cy="1080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OQWKHA+SegoeUI-Bold" panose="020B0604020202020204"/>
              </a:rPr>
              <a:t>System Flow</a:t>
            </a:r>
          </a:p>
        </p:txBody>
      </p:sp>
      <p:sp>
        <p:nvSpPr>
          <p:cNvPr id="10" name="Rectangle: Rounded Corners 9">
            <a:extLst>
              <a:ext uri="{FF2B5EF4-FFF2-40B4-BE49-F238E27FC236}">
                <a16:creationId xmlns:a16="http://schemas.microsoft.com/office/drawing/2014/main" id="{5EF1B9E4-0655-D27F-7D8F-3FD884A7E64F}"/>
              </a:ext>
            </a:extLst>
          </p:cNvPr>
          <p:cNvSpPr/>
          <p:nvPr/>
        </p:nvSpPr>
        <p:spPr>
          <a:xfrm>
            <a:off x="466888" y="2121509"/>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5AE18FFA-F403-627C-9BF9-AB54A8F432A8}"/>
              </a:ext>
            </a:extLst>
          </p:cNvPr>
          <p:cNvCxnSpPr>
            <a:cxnSpLocks/>
          </p:cNvCxnSpPr>
          <p:nvPr/>
        </p:nvCxnSpPr>
        <p:spPr>
          <a:xfrm>
            <a:off x="1858752" y="1875494"/>
            <a:ext cx="0" cy="246015"/>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6" name="Rectangle: Rounded Corners 5">
            <a:extLst>
              <a:ext uri="{FF2B5EF4-FFF2-40B4-BE49-F238E27FC236}">
                <a16:creationId xmlns:a16="http://schemas.microsoft.com/office/drawing/2014/main" id="{4FB902B7-1CCE-D653-201D-3F7230D34693}"/>
              </a:ext>
            </a:extLst>
          </p:cNvPr>
          <p:cNvSpPr/>
          <p:nvPr/>
        </p:nvSpPr>
        <p:spPr>
          <a:xfrm>
            <a:off x="474888" y="3024586"/>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11" name="Rectangle: Rounded Corners 10">
            <a:extLst>
              <a:ext uri="{FF2B5EF4-FFF2-40B4-BE49-F238E27FC236}">
                <a16:creationId xmlns:a16="http://schemas.microsoft.com/office/drawing/2014/main" id="{B3510768-4574-8A96-F534-F90BA47BDD22}"/>
              </a:ext>
            </a:extLst>
          </p:cNvPr>
          <p:cNvSpPr/>
          <p:nvPr/>
        </p:nvSpPr>
        <p:spPr>
          <a:xfrm>
            <a:off x="466888" y="3975397"/>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092600D-6DA0-A4EE-13CB-3A30E01D607B}"/>
              </a:ext>
            </a:extLst>
          </p:cNvPr>
          <p:cNvSpPr/>
          <p:nvPr/>
        </p:nvSpPr>
        <p:spPr>
          <a:xfrm>
            <a:off x="497192" y="5829285"/>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15" name="Rectangle: Rounded Corners 14">
            <a:extLst>
              <a:ext uri="{FF2B5EF4-FFF2-40B4-BE49-F238E27FC236}">
                <a16:creationId xmlns:a16="http://schemas.microsoft.com/office/drawing/2014/main" id="{88863E5C-D833-D937-6AA9-159439180217}"/>
              </a:ext>
            </a:extLst>
          </p:cNvPr>
          <p:cNvSpPr/>
          <p:nvPr/>
        </p:nvSpPr>
        <p:spPr>
          <a:xfrm>
            <a:off x="497192" y="4934354"/>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F617438A-6E94-9172-0C6A-662191668ABB}"/>
              </a:ext>
            </a:extLst>
          </p:cNvPr>
          <p:cNvSpPr/>
          <p:nvPr/>
        </p:nvSpPr>
        <p:spPr>
          <a:xfrm>
            <a:off x="461352" y="1201570"/>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38" name="Straight Arrow Connector 37">
            <a:extLst>
              <a:ext uri="{FF2B5EF4-FFF2-40B4-BE49-F238E27FC236}">
                <a16:creationId xmlns:a16="http://schemas.microsoft.com/office/drawing/2014/main" id="{ED27B31C-26EC-0B53-8335-D9E8DE79848B}"/>
              </a:ext>
            </a:extLst>
          </p:cNvPr>
          <p:cNvCxnSpPr>
            <a:cxnSpLocks/>
          </p:cNvCxnSpPr>
          <p:nvPr/>
        </p:nvCxnSpPr>
        <p:spPr>
          <a:xfrm>
            <a:off x="1858936" y="2847237"/>
            <a:ext cx="0" cy="193011"/>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41" name="Straight Arrow Connector 40">
            <a:extLst>
              <a:ext uri="{FF2B5EF4-FFF2-40B4-BE49-F238E27FC236}">
                <a16:creationId xmlns:a16="http://schemas.microsoft.com/office/drawing/2014/main" id="{1DE3E441-980D-DBAF-8BED-8224D9C9D4D4}"/>
              </a:ext>
            </a:extLst>
          </p:cNvPr>
          <p:cNvCxnSpPr>
            <a:cxnSpLocks/>
          </p:cNvCxnSpPr>
          <p:nvPr/>
        </p:nvCxnSpPr>
        <p:spPr>
          <a:xfrm>
            <a:off x="1858752" y="3750314"/>
            <a:ext cx="0" cy="246015"/>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018A0949-66EB-CD78-9675-15C67F3363B7}"/>
              </a:ext>
            </a:extLst>
          </p:cNvPr>
          <p:cNvCxnSpPr>
            <a:cxnSpLocks/>
          </p:cNvCxnSpPr>
          <p:nvPr/>
        </p:nvCxnSpPr>
        <p:spPr>
          <a:xfrm>
            <a:off x="1858752" y="4688339"/>
            <a:ext cx="0" cy="246015"/>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43" name="Straight Arrow Connector 42">
            <a:extLst>
              <a:ext uri="{FF2B5EF4-FFF2-40B4-BE49-F238E27FC236}">
                <a16:creationId xmlns:a16="http://schemas.microsoft.com/office/drawing/2014/main" id="{1FF37A4A-9F39-9DFA-249E-1104FDA60A05}"/>
              </a:ext>
            </a:extLst>
          </p:cNvPr>
          <p:cNvCxnSpPr>
            <a:cxnSpLocks/>
          </p:cNvCxnSpPr>
          <p:nvPr/>
        </p:nvCxnSpPr>
        <p:spPr>
          <a:xfrm>
            <a:off x="1858752" y="5660082"/>
            <a:ext cx="0" cy="245201"/>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47" name="TextBox 46">
            <a:extLst>
              <a:ext uri="{FF2B5EF4-FFF2-40B4-BE49-F238E27FC236}">
                <a16:creationId xmlns:a16="http://schemas.microsoft.com/office/drawing/2014/main" id="{95A0DD1C-33D0-09B1-1F68-2763EDB46021}"/>
              </a:ext>
            </a:extLst>
          </p:cNvPr>
          <p:cNvSpPr txBox="1"/>
          <p:nvPr/>
        </p:nvSpPr>
        <p:spPr>
          <a:xfrm>
            <a:off x="1066664" y="1360750"/>
            <a:ext cx="1584174" cy="378309"/>
          </a:xfrm>
          <a:prstGeom prst="rect">
            <a:avLst/>
          </a:prstGeom>
          <a:noFill/>
        </p:spPr>
        <p:txBody>
          <a:bodyPr wrap="square" rtlCol="0">
            <a:spAutoFit/>
          </a:bodyPr>
          <a:lstStyle/>
          <a:p>
            <a:pPr algn="ctr"/>
            <a:r>
              <a:rPr lang="en-IN" dirty="0">
                <a:solidFill>
                  <a:schemeClr val="bg1"/>
                </a:solidFill>
              </a:rPr>
              <a:t>User</a:t>
            </a:r>
          </a:p>
        </p:txBody>
      </p:sp>
      <p:sp>
        <p:nvSpPr>
          <p:cNvPr id="48" name="TextBox 47">
            <a:extLst>
              <a:ext uri="{FF2B5EF4-FFF2-40B4-BE49-F238E27FC236}">
                <a16:creationId xmlns:a16="http://schemas.microsoft.com/office/drawing/2014/main" id="{07BE9B86-EA57-6539-D886-81F8946D9EDA}"/>
              </a:ext>
            </a:extLst>
          </p:cNvPr>
          <p:cNvSpPr txBox="1"/>
          <p:nvPr/>
        </p:nvSpPr>
        <p:spPr>
          <a:xfrm>
            <a:off x="958817" y="2337566"/>
            <a:ext cx="1728190" cy="369332"/>
          </a:xfrm>
          <a:prstGeom prst="rect">
            <a:avLst/>
          </a:prstGeom>
          <a:noFill/>
        </p:spPr>
        <p:txBody>
          <a:bodyPr wrap="square" rtlCol="0">
            <a:spAutoFit/>
          </a:bodyPr>
          <a:lstStyle/>
          <a:p>
            <a:pPr algn="ctr"/>
            <a:r>
              <a:rPr lang="en-IN" dirty="0">
                <a:solidFill>
                  <a:schemeClr val="bg1"/>
                </a:solidFill>
              </a:rPr>
              <a:t>Web UI</a:t>
            </a:r>
          </a:p>
        </p:txBody>
      </p:sp>
      <p:sp>
        <p:nvSpPr>
          <p:cNvPr id="49" name="TextBox 48">
            <a:extLst>
              <a:ext uri="{FF2B5EF4-FFF2-40B4-BE49-F238E27FC236}">
                <a16:creationId xmlns:a16="http://schemas.microsoft.com/office/drawing/2014/main" id="{2C2706CF-54AD-5EB0-300D-67E30C75F4F4}"/>
              </a:ext>
            </a:extLst>
          </p:cNvPr>
          <p:cNvSpPr txBox="1"/>
          <p:nvPr/>
        </p:nvSpPr>
        <p:spPr>
          <a:xfrm>
            <a:off x="1066672" y="3138741"/>
            <a:ext cx="1584166" cy="369332"/>
          </a:xfrm>
          <a:prstGeom prst="rect">
            <a:avLst/>
          </a:prstGeom>
          <a:noFill/>
        </p:spPr>
        <p:txBody>
          <a:bodyPr wrap="square" rtlCol="0">
            <a:spAutoFit/>
          </a:bodyPr>
          <a:lstStyle/>
          <a:p>
            <a:pPr algn="ctr"/>
            <a:r>
              <a:rPr lang="en-IN" dirty="0">
                <a:solidFill>
                  <a:schemeClr val="bg1"/>
                </a:solidFill>
              </a:rPr>
              <a:t>Flask API</a:t>
            </a:r>
          </a:p>
        </p:txBody>
      </p:sp>
      <p:sp>
        <p:nvSpPr>
          <p:cNvPr id="50" name="TextBox 49">
            <a:extLst>
              <a:ext uri="{FF2B5EF4-FFF2-40B4-BE49-F238E27FC236}">
                <a16:creationId xmlns:a16="http://schemas.microsoft.com/office/drawing/2014/main" id="{DF7FC9CC-8B19-0C4A-6572-B9BA1AF7D25D}"/>
              </a:ext>
            </a:extLst>
          </p:cNvPr>
          <p:cNvSpPr txBox="1"/>
          <p:nvPr/>
        </p:nvSpPr>
        <p:spPr>
          <a:xfrm>
            <a:off x="1271464" y="4011972"/>
            <a:ext cx="2160237" cy="646331"/>
          </a:xfrm>
          <a:prstGeom prst="rect">
            <a:avLst/>
          </a:prstGeom>
          <a:noFill/>
        </p:spPr>
        <p:txBody>
          <a:bodyPr wrap="square" rtlCol="0">
            <a:spAutoFit/>
          </a:bodyPr>
          <a:lstStyle/>
          <a:p>
            <a:r>
              <a:rPr lang="en-IN" dirty="0">
                <a:solidFill>
                  <a:schemeClr val="bg1"/>
                </a:solidFill>
              </a:rPr>
              <a:t>ML model  </a:t>
            </a:r>
          </a:p>
          <a:p>
            <a:r>
              <a:rPr lang="en-IN" dirty="0">
                <a:solidFill>
                  <a:schemeClr val="bg1"/>
                </a:solidFill>
              </a:rPr>
              <a:t> XG Boost</a:t>
            </a:r>
          </a:p>
        </p:txBody>
      </p:sp>
      <p:sp>
        <p:nvSpPr>
          <p:cNvPr id="51" name="TextBox 50">
            <a:extLst>
              <a:ext uri="{FF2B5EF4-FFF2-40B4-BE49-F238E27FC236}">
                <a16:creationId xmlns:a16="http://schemas.microsoft.com/office/drawing/2014/main" id="{D13C5BE8-3DAD-E8EB-4439-AA480913038D}"/>
              </a:ext>
            </a:extLst>
          </p:cNvPr>
          <p:cNvSpPr txBox="1"/>
          <p:nvPr/>
        </p:nvSpPr>
        <p:spPr>
          <a:xfrm>
            <a:off x="1211553" y="4974052"/>
            <a:ext cx="1800191" cy="646331"/>
          </a:xfrm>
          <a:prstGeom prst="rect">
            <a:avLst/>
          </a:prstGeom>
          <a:noFill/>
        </p:spPr>
        <p:txBody>
          <a:bodyPr wrap="square" rtlCol="0">
            <a:spAutoFit/>
          </a:bodyPr>
          <a:lstStyle/>
          <a:p>
            <a:r>
              <a:rPr lang="en-IN" dirty="0">
                <a:solidFill>
                  <a:schemeClr val="bg1"/>
                </a:solidFill>
              </a:rPr>
              <a:t>PostgreSQL </a:t>
            </a:r>
          </a:p>
          <a:p>
            <a:r>
              <a:rPr lang="en-IN" dirty="0">
                <a:solidFill>
                  <a:schemeClr val="bg1"/>
                </a:solidFill>
              </a:rPr>
              <a:t>  Database</a:t>
            </a:r>
          </a:p>
        </p:txBody>
      </p:sp>
      <p:sp>
        <p:nvSpPr>
          <p:cNvPr id="52" name="TextBox 51">
            <a:extLst>
              <a:ext uri="{FF2B5EF4-FFF2-40B4-BE49-F238E27FC236}">
                <a16:creationId xmlns:a16="http://schemas.microsoft.com/office/drawing/2014/main" id="{B8864202-F854-4912-D3FF-2B7DA80D2423}"/>
              </a:ext>
            </a:extLst>
          </p:cNvPr>
          <p:cNvSpPr txBox="1"/>
          <p:nvPr/>
        </p:nvSpPr>
        <p:spPr>
          <a:xfrm>
            <a:off x="1254869" y="5868983"/>
            <a:ext cx="1800200" cy="646331"/>
          </a:xfrm>
          <a:prstGeom prst="rect">
            <a:avLst/>
          </a:prstGeom>
          <a:noFill/>
        </p:spPr>
        <p:txBody>
          <a:bodyPr wrap="square" rtlCol="0">
            <a:spAutoFit/>
          </a:bodyPr>
          <a:lstStyle/>
          <a:p>
            <a:r>
              <a:rPr lang="en-IN" dirty="0">
                <a:solidFill>
                  <a:schemeClr val="bg1"/>
                </a:solidFill>
              </a:rPr>
              <a:t>Dashboard    </a:t>
            </a:r>
          </a:p>
          <a:p>
            <a:r>
              <a:rPr lang="en-IN" dirty="0">
                <a:solidFill>
                  <a:schemeClr val="bg1"/>
                </a:solidFill>
              </a:rPr>
              <a:t>   Output</a:t>
            </a:r>
          </a:p>
        </p:txBody>
      </p:sp>
      <p:sp>
        <p:nvSpPr>
          <p:cNvPr id="53" name="TextBox 52">
            <a:extLst>
              <a:ext uri="{FF2B5EF4-FFF2-40B4-BE49-F238E27FC236}">
                <a16:creationId xmlns:a16="http://schemas.microsoft.com/office/drawing/2014/main" id="{427AFBAA-BD9D-53FA-0E72-7481AB1E2AA6}"/>
              </a:ext>
            </a:extLst>
          </p:cNvPr>
          <p:cNvSpPr txBox="1"/>
          <p:nvPr/>
        </p:nvSpPr>
        <p:spPr>
          <a:xfrm>
            <a:off x="3607437" y="1159241"/>
            <a:ext cx="8152389" cy="5632311"/>
          </a:xfrm>
          <a:prstGeom prst="rect">
            <a:avLst/>
          </a:prstGeom>
          <a:noFill/>
        </p:spPr>
        <p:txBody>
          <a:bodyPr wrap="square" rtlCol="0">
            <a:spAutoFit/>
          </a:bodyPr>
          <a:lstStyle/>
          <a:p>
            <a:r>
              <a:rPr lang="en-US" b="1" dirty="0">
                <a:solidFill>
                  <a:schemeClr val="bg1"/>
                </a:solidFill>
              </a:rPr>
              <a:t>User → Web UI:</a:t>
            </a:r>
            <a:br>
              <a:rPr lang="en-US" dirty="0">
                <a:solidFill>
                  <a:schemeClr val="bg1"/>
                </a:solidFill>
              </a:rPr>
            </a:br>
            <a:r>
              <a:rPr lang="en-US" dirty="0">
                <a:solidFill>
                  <a:schemeClr val="bg1"/>
                </a:solidFill>
              </a:rPr>
              <a:t>The user interacts with a web-based dashboard to view inventory, sales, and forecasts.</a:t>
            </a:r>
          </a:p>
          <a:p>
            <a:endParaRPr lang="en-US" dirty="0">
              <a:solidFill>
                <a:schemeClr val="bg1"/>
              </a:solidFill>
            </a:endParaRPr>
          </a:p>
          <a:p>
            <a:r>
              <a:rPr lang="en-US" b="1" dirty="0">
                <a:solidFill>
                  <a:schemeClr val="bg1"/>
                </a:solidFill>
              </a:rPr>
              <a:t>Web UI → Flask API:</a:t>
            </a:r>
            <a:br>
              <a:rPr lang="en-US" dirty="0">
                <a:solidFill>
                  <a:schemeClr val="bg1"/>
                </a:solidFill>
              </a:rPr>
            </a:br>
            <a:r>
              <a:rPr lang="en-US" dirty="0">
                <a:solidFill>
                  <a:schemeClr val="bg1"/>
                </a:solidFill>
              </a:rPr>
              <a:t>Requests from the UI are sent to the Flask backend API for processing and data retrieval.</a:t>
            </a:r>
          </a:p>
          <a:p>
            <a:endParaRPr lang="en-US" dirty="0">
              <a:solidFill>
                <a:schemeClr val="bg1"/>
              </a:solidFill>
            </a:endParaRPr>
          </a:p>
          <a:p>
            <a:r>
              <a:rPr lang="en-US" b="1" dirty="0">
                <a:solidFill>
                  <a:schemeClr val="bg1"/>
                </a:solidFill>
              </a:rPr>
              <a:t>Flask API → ML Model (</a:t>
            </a:r>
            <a:r>
              <a:rPr lang="en-US" b="1" dirty="0" err="1">
                <a:solidFill>
                  <a:schemeClr val="bg1"/>
                </a:solidFill>
              </a:rPr>
              <a:t>XGBoost</a:t>
            </a:r>
            <a:r>
              <a:rPr lang="en-US" b="1" dirty="0">
                <a:solidFill>
                  <a:schemeClr val="bg1"/>
                </a:solidFill>
              </a:rPr>
              <a:t>):</a:t>
            </a:r>
            <a:br>
              <a:rPr lang="en-US" dirty="0">
                <a:solidFill>
                  <a:schemeClr val="bg1"/>
                </a:solidFill>
              </a:rPr>
            </a:br>
            <a:r>
              <a:rPr lang="en-US" dirty="0">
                <a:solidFill>
                  <a:schemeClr val="bg1"/>
                </a:solidFill>
              </a:rPr>
              <a:t>The backend passes relevant sales and stock data to the </a:t>
            </a:r>
            <a:r>
              <a:rPr lang="en-US" dirty="0" err="1">
                <a:solidFill>
                  <a:schemeClr val="bg1"/>
                </a:solidFill>
              </a:rPr>
              <a:t>XGBoost</a:t>
            </a:r>
            <a:r>
              <a:rPr lang="en-US" dirty="0">
                <a:solidFill>
                  <a:schemeClr val="bg1"/>
                </a:solidFill>
              </a:rPr>
              <a:t> model for 7-day demand forecasting.</a:t>
            </a:r>
          </a:p>
          <a:p>
            <a:endParaRPr lang="en-US" dirty="0">
              <a:solidFill>
                <a:schemeClr val="bg1"/>
              </a:solidFill>
            </a:endParaRPr>
          </a:p>
          <a:p>
            <a:r>
              <a:rPr lang="en-US" b="1" dirty="0">
                <a:solidFill>
                  <a:schemeClr val="bg1"/>
                </a:solidFill>
              </a:rPr>
              <a:t>ML Model → PostgreSQL Database:</a:t>
            </a:r>
            <a:br>
              <a:rPr lang="en-US" dirty="0">
                <a:solidFill>
                  <a:schemeClr val="bg1"/>
                </a:solidFill>
              </a:rPr>
            </a:br>
            <a:r>
              <a:rPr lang="en-US" dirty="0">
                <a:solidFill>
                  <a:schemeClr val="bg1"/>
                </a:solidFill>
              </a:rPr>
              <a:t>Predictions and processed data are stored or updated in the cloud PostgreSQL database for centralized access.</a:t>
            </a:r>
          </a:p>
          <a:p>
            <a:endParaRPr lang="en-US" dirty="0">
              <a:solidFill>
                <a:schemeClr val="bg1"/>
              </a:solidFill>
            </a:endParaRPr>
          </a:p>
          <a:p>
            <a:r>
              <a:rPr lang="en-US" b="1" dirty="0">
                <a:solidFill>
                  <a:schemeClr val="bg1"/>
                </a:solidFill>
              </a:rPr>
              <a:t>PostgreSQL → Dashboard Output:</a:t>
            </a:r>
            <a:br>
              <a:rPr lang="en-US" dirty="0">
                <a:solidFill>
                  <a:schemeClr val="bg1"/>
                </a:solidFill>
              </a:rPr>
            </a:br>
            <a:r>
              <a:rPr lang="en-US" dirty="0">
                <a:solidFill>
                  <a:schemeClr val="bg1"/>
                </a:solidFill>
              </a:rPr>
              <a:t>The dashboard fetches real-time data and displays stock status, alerts, and forecast insights to the user.</a:t>
            </a:r>
          </a:p>
          <a:p>
            <a:endParaRPr lang="en-IN" dirty="0">
              <a:solidFill>
                <a:schemeClr val="bg1"/>
              </a:solidFill>
            </a:endParaRPr>
          </a:p>
        </p:txBody>
      </p:sp>
      <p:pic>
        <p:nvPicPr>
          <p:cNvPr id="55" name="Picture 54" descr="A close-up of a logo&#10;&#10;AI-generated content may be incorrect.">
            <a:extLst>
              <a:ext uri="{FF2B5EF4-FFF2-40B4-BE49-F238E27FC236}">
                <a16:creationId xmlns:a16="http://schemas.microsoft.com/office/drawing/2014/main" id="{7E8F3A48-30A7-7895-83F3-3A89E98E5A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6440" y="247113"/>
            <a:ext cx="1584176" cy="3892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563228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2355300" y="471529"/>
            <a:ext cx="7920879" cy="487313"/>
          </a:xfrm>
          <a:prstGeom prst="rect">
            <a:avLst/>
          </a:prstGeom>
        </p:spPr>
        <p:txBody>
          <a:bodyPr vert="horz" wrap="square" lIns="0" tIns="0" rIns="0" bIns="0" rtlCol="0">
            <a:spAutoFit/>
          </a:bodyPr>
          <a:lstStyle/>
          <a:p>
            <a:pPr marL="0" marR="0" algn="ctr">
              <a:lnSpc>
                <a:spcPts val="3751"/>
              </a:lnSpc>
              <a:spcBef>
                <a:spcPts val="0"/>
              </a:spcBef>
              <a:spcAft>
                <a:spcPts val="0"/>
              </a:spcAft>
            </a:pPr>
            <a:r>
              <a:rPr lang="en-IN" sz="3600" b="1" dirty="0">
                <a:solidFill>
                  <a:srgbClr val="FFFFFF"/>
                </a:solidFill>
                <a:latin typeface="OQWKHA+SegoeUI-Bold"/>
                <a:cs typeface="OQWKHA+SegoeUI-Bold"/>
              </a:rPr>
              <a:t>Implementation</a:t>
            </a:r>
            <a:endParaRPr sz="3600" b="1" dirty="0">
              <a:solidFill>
                <a:srgbClr val="FFFFFF"/>
              </a:solidFill>
              <a:latin typeface="OQWKHA+SegoeUI-Bold"/>
              <a:cs typeface="OQWKHA+SegoeUI-Bold"/>
            </a:endParaRPr>
          </a:p>
        </p:txBody>
      </p:sp>
      <p:sp>
        <p:nvSpPr>
          <p:cNvPr id="6" name="Rectangle: Rounded Corners 5">
            <a:extLst>
              <a:ext uri="{FF2B5EF4-FFF2-40B4-BE49-F238E27FC236}">
                <a16:creationId xmlns:a16="http://schemas.microsoft.com/office/drawing/2014/main" id="{20BC23FB-14E0-33C6-5D15-19314C55A7DA}"/>
              </a:ext>
            </a:extLst>
          </p:cNvPr>
          <p:cNvSpPr/>
          <p:nvPr/>
        </p:nvSpPr>
        <p:spPr>
          <a:xfrm>
            <a:off x="8328248" y="1772816"/>
            <a:ext cx="3528392" cy="4824536"/>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7" name="Rectangle: Rounded Corners 6">
            <a:extLst>
              <a:ext uri="{FF2B5EF4-FFF2-40B4-BE49-F238E27FC236}">
                <a16:creationId xmlns:a16="http://schemas.microsoft.com/office/drawing/2014/main" id="{C809FCE8-7F23-3A4C-2436-31B9CA3A7356}"/>
              </a:ext>
            </a:extLst>
          </p:cNvPr>
          <p:cNvSpPr/>
          <p:nvPr/>
        </p:nvSpPr>
        <p:spPr>
          <a:xfrm>
            <a:off x="659396" y="1772816"/>
            <a:ext cx="3528392" cy="4824536"/>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A84AE787-3281-5FF3-D259-5B4757E02B58}"/>
              </a:ext>
            </a:extLst>
          </p:cNvPr>
          <p:cNvSpPr txBox="1"/>
          <p:nvPr/>
        </p:nvSpPr>
        <p:spPr>
          <a:xfrm>
            <a:off x="479376" y="1995918"/>
            <a:ext cx="3888432" cy="5416868"/>
          </a:xfrm>
          <a:prstGeom prst="rect">
            <a:avLst/>
          </a:prstGeom>
          <a:noFill/>
        </p:spPr>
        <p:txBody>
          <a:bodyPr wrap="square" rtlCol="0">
            <a:spAutoFit/>
          </a:bodyPr>
          <a:lstStyle/>
          <a:p>
            <a:pPr algn="ctr"/>
            <a:r>
              <a:rPr lang="en-IN" b="1" dirty="0">
                <a:solidFill>
                  <a:schemeClr val="bg1"/>
                </a:solidFill>
              </a:rPr>
              <a:t> BACKEND IMPLEMENTATION</a:t>
            </a:r>
          </a:p>
          <a:p>
            <a:pPr algn="ctr"/>
            <a:endParaRPr lang="en-IN" dirty="0">
              <a:solidFill>
                <a:schemeClr val="bg1"/>
              </a:solidFill>
            </a:endParaRPr>
          </a:p>
          <a:p>
            <a:pPr lvl="1"/>
            <a:r>
              <a:rPr lang="en-IN" sz="1600" b="1" dirty="0">
                <a:solidFill>
                  <a:schemeClr val="bg1"/>
                </a:solidFill>
              </a:rPr>
              <a:t>Framework Used:</a:t>
            </a:r>
            <a:r>
              <a:rPr lang="en-IN" sz="1600" dirty="0">
                <a:solidFill>
                  <a:schemeClr val="bg1"/>
                </a:solidFill>
              </a:rPr>
              <a:t> Flask (Python)</a:t>
            </a:r>
          </a:p>
          <a:p>
            <a:pPr lvl="1"/>
            <a:endParaRPr lang="en-IN" sz="1600" dirty="0">
              <a:solidFill>
                <a:schemeClr val="bg1"/>
              </a:solidFill>
            </a:endParaRPr>
          </a:p>
          <a:p>
            <a:pPr lvl="1"/>
            <a:r>
              <a:rPr lang="en-IN" sz="1600" b="1" dirty="0">
                <a:solidFill>
                  <a:schemeClr val="bg1"/>
                </a:solidFill>
              </a:rPr>
              <a:t>Core Functionalities:</a:t>
            </a:r>
            <a:br>
              <a:rPr lang="en-IN" sz="1600" dirty="0">
                <a:solidFill>
                  <a:schemeClr val="bg1"/>
                </a:solidFill>
              </a:rPr>
            </a:br>
            <a:r>
              <a:rPr lang="en-IN" sz="1600" dirty="0">
                <a:solidFill>
                  <a:schemeClr val="bg1"/>
                </a:solidFill>
              </a:rPr>
              <a:t>• User Login Authentication</a:t>
            </a:r>
            <a:br>
              <a:rPr lang="en-IN" sz="1600" dirty="0">
                <a:solidFill>
                  <a:schemeClr val="bg1"/>
                </a:solidFill>
              </a:rPr>
            </a:br>
            <a:r>
              <a:rPr lang="en-IN" sz="1600" dirty="0">
                <a:solidFill>
                  <a:schemeClr val="bg1"/>
                </a:solidFill>
              </a:rPr>
              <a:t>• Inventory Data Retrieval</a:t>
            </a:r>
            <a:br>
              <a:rPr lang="en-IN" sz="1600" dirty="0">
                <a:solidFill>
                  <a:schemeClr val="bg1"/>
                </a:solidFill>
              </a:rPr>
            </a:br>
            <a:r>
              <a:rPr lang="en-IN" sz="1600" dirty="0">
                <a:solidFill>
                  <a:schemeClr val="bg1"/>
                </a:solidFill>
              </a:rPr>
              <a:t>• Forecast Prediction API</a:t>
            </a:r>
            <a:br>
              <a:rPr lang="en-IN" sz="1600" dirty="0">
                <a:solidFill>
                  <a:schemeClr val="bg1"/>
                </a:solidFill>
              </a:rPr>
            </a:br>
            <a:r>
              <a:rPr lang="en-IN" sz="1600" dirty="0">
                <a:solidFill>
                  <a:schemeClr val="bg1"/>
                </a:solidFill>
              </a:rPr>
              <a:t>• Stock Status Classification</a:t>
            </a:r>
            <a:br>
              <a:rPr lang="en-IN" sz="1600" dirty="0">
                <a:solidFill>
                  <a:schemeClr val="bg1"/>
                </a:solidFill>
              </a:rPr>
            </a:br>
            <a:r>
              <a:rPr lang="en-IN" sz="1600" dirty="0">
                <a:solidFill>
                  <a:schemeClr val="bg1"/>
                </a:solidFill>
              </a:rPr>
              <a:t>• Alert System Generation</a:t>
            </a:r>
            <a:br>
              <a:rPr lang="en-IN" sz="1600" dirty="0">
                <a:solidFill>
                  <a:schemeClr val="bg1"/>
                </a:solidFill>
              </a:rPr>
            </a:br>
            <a:r>
              <a:rPr lang="en-IN" sz="1600" dirty="0">
                <a:solidFill>
                  <a:schemeClr val="bg1"/>
                </a:solidFill>
              </a:rPr>
              <a:t>• PostgreSQL Integration</a:t>
            </a:r>
          </a:p>
          <a:p>
            <a:pPr lvl="1"/>
            <a:endParaRPr lang="en-IN" sz="1600" dirty="0">
              <a:solidFill>
                <a:schemeClr val="bg1"/>
              </a:solidFill>
            </a:endParaRPr>
          </a:p>
          <a:p>
            <a:pPr lvl="1"/>
            <a:r>
              <a:rPr lang="en-IN" sz="1600" b="1" dirty="0">
                <a:solidFill>
                  <a:schemeClr val="bg1"/>
                </a:solidFill>
              </a:rPr>
              <a:t>Backend Workflow:</a:t>
            </a:r>
            <a:endParaRPr lang="en-IN" sz="1600" dirty="0">
              <a:solidFill>
                <a:schemeClr val="bg1"/>
              </a:solidFill>
            </a:endParaRPr>
          </a:p>
          <a:p>
            <a:pPr lvl="1"/>
            <a:r>
              <a:rPr lang="en-IN" sz="1600" dirty="0">
                <a:solidFill>
                  <a:schemeClr val="bg1"/>
                </a:solidFill>
              </a:rPr>
              <a:t>Fetch data from database</a:t>
            </a:r>
          </a:p>
          <a:p>
            <a:pPr lvl="1"/>
            <a:r>
              <a:rPr lang="en-IN" sz="1600" dirty="0">
                <a:solidFill>
                  <a:schemeClr val="bg1"/>
                </a:solidFill>
              </a:rPr>
              <a:t>Run </a:t>
            </a:r>
            <a:r>
              <a:rPr lang="en-IN" sz="1600" dirty="0" err="1">
                <a:solidFill>
                  <a:schemeClr val="bg1"/>
                </a:solidFill>
              </a:rPr>
              <a:t>XGBoost</a:t>
            </a:r>
            <a:r>
              <a:rPr lang="en-IN" sz="1600" dirty="0">
                <a:solidFill>
                  <a:schemeClr val="bg1"/>
                </a:solidFill>
              </a:rPr>
              <a:t> predictions</a:t>
            </a:r>
          </a:p>
          <a:p>
            <a:pPr lvl="1"/>
            <a:r>
              <a:rPr lang="en-IN" sz="1600" dirty="0">
                <a:solidFill>
                  <a:schemeClr val="bg1"/>
                </a:solidFill>
              </a:rPr>
              <a:t>Compare stock vs forecast</a:t>
            </a:r>
          </a:p>
          <a:p>
            <a:pPr lvl="1"/>
            <a:r>
              <a:rPr lang="en-IN" sz="1600" dirty="0">
                <a:solidFill>
                  <a:schemeClr val="bg1"/>
                </a:solidFill>
              </a:rPr>
              <a:t>Generate status &amp; alerts</a:t>
            </a:r>
          </a:p>
          <a:p>
            <a:pPr lvl="1"/>
            <a:r>
              <a:rPr lang="en-IN" sz="1600" dirty="0">
                <a:solidFill>
                  <a:schemeClr val="bg1"/>
                </a:solidFill>
              </a:rPr>
              <a:t>Send output to dashboard</a:t>
            </a:r>
          </a:p>
          <a:p>
            <a:br>
              <a:rPr lang="en-IN" dirty="0">
                <a:solidFill>
                  <a:schemeClr val="bg1"/>
                </a:solidFill>
              </a:rPr>
            </a:br>
            <a:endParaRPr lang="en-IN" dirty="0">
              <a:solidFill>
                <a:schemeClr val="bg1"/>
              </a:solidFill>
            </a:endParaRPr>
          </a:p>
          <a:p>
            <a:endParaRPr lang="en-IN" dirty="0"/>
          </a:p>
        </p:txBody>
      </p:sp>
      <p:sp>
        <p:nvSpPr>
          <p:cNvPr id="10" name="TextBox 9">
            <a:extLst>
              <a:ext uri="{FF2B5EF4-FFF2-40B4-BE49-F238E27FC236}">
                <a16:creationId xmlns:a16="http://schemas.microsoft.com/office/drawing/2014/main" id="{76851338-3C5E-BE27-A667-78BD6D6B07BB}"/>
              </a:ext>
            </a:extLst>
          </p:cNvPr>
          <p:cNvSpPr txBox="1"/>
          <p:nvPr/>
        </p:nvSpPr>
        <p:spPr>
          <a:xfrm>
            <a:off x="8148228" y="1995918"/>
            <a:ext cx="3888432" cy="5693866"/>
          </a:xfrm>
          <a:prstGeom prst="rect">
            <a:avLst/>
          </a:prstGeom>
          <a:noFill/>
        </p:spPr>
        <p:txBody>
          <a:bodyPr wrap="square" rtlCol="0">
            <a:spAutoFit/>
          </a:bodyPr>
          <a:lstStyle/>
          <a:p>
            <a:pPr algn="ctr"/>
            <a:r>
              <a:rPr lang="en-IN" b="1" dirty="0">
                <a:solidFill>
                  <a:schemeClr val="bg1"/>
                </a:solidFill>
              </a:rPr>
              <a:t> FRONTEND DASHBOARD</a:t>
            </a:r>
          </a:p>
          <a:p>
            <a:pPr algn="ctr"/>
            <a:endParaRPr lang="en-IN" dirty="0">
              <a:solidFill>
                <a:schemeClr val="bg1"/>
              </a:solidFill>
            </a:endParaRPr>
          </a:p>
          <a:p>
            <a:pPr lvl="1"/>
            <a:r>
              <a:rPr lang="en-IN" sz="1600" b="1" dirty="0">
                <a:solidFill>
                  <a:schemeClr val="bg1"/>
                </a:solidFill>
              </a:rPr>
              <a:t>Dashboard Displays:</a:t>
            </a:r>
            <a:br>
              <a:rPr lang="en-IN" sz="1600" dirty="0">
                <a:solidFill>
                  <a:schemeClr val="bg1"/>
                </a:solidFill>
              </a:rPr>
            </a:br>
            <a:r>
              <a:rPr lang="en-IN" sz="1600" dirty="0">
                <a:solidFill>
                  <a:schemeClr val="bg1"/>
                </a:solidFill>
              </a:rPr>
              <a:t>• City                          • Sales</a:t>
            </a:r>
            <a:br>
              <a:rPr lang="en-IN" sz="1600" dirty="0">
                <a:solidFill>
                  <a:schemeClr val="bg1"/>
                </a:solidFill>
              </a:rPr>
            </a:br>
            <a:r>
              <a:rPr lang="en-IN" sz="1600" dirty="0">
                <a:solidFill>
                  <a:schemeClr val="bg1"/>
                </a:solidFill>
              </a:rPr>
              <a:t>• Available Stock      • Store ID</a:t>
            </a:r>
            <a:br>
              <a:rPr lang="en-IN" sz="1600" dirty="0">
                <a:solidFill>
                  <a:schemeClr val="bg1"/>
                </a:solidFill>
              </a:rPr>
            </a:br>
            <a:r>
              <a:rPr lang="en-IN" sz="1600" dirty="0">
                <a:solidFill>
                  <a:schemeClr val="bg1"/>
                </a:solidFill>
              </a:rPr>
              <a:t>• Predicted Sales      • Product ID</a:t>
            </a:r>
            <a:br>
              <a:rPr lang="en-IN" sz="1600" dirty="0">
                <a:solidFill>
                  <a:schemeClr val="bg1"/>
                </a:solidFill>
              </a:rPr>
            </a:br>
            <a:r>
              <a:rPr lang="en-IN" sz="1600" dirty="0">
                <a:solidFill>
                  <a:schemeClr val="bg1"/>
                </a:solidFill>
              </a:rPr>
              <a:t>• Stock Status            • Date</a:t>
            </a:r>
          </a:p>
          <a:p>
            <a:pPr lvl="1"/>
            <a:br>
              <a:rPr lang="en-IN" sz="1600" dirty="0">
                <a:solidFill>
                  <a:schemeClr val="bg1"/>
                </a:solidFill>
              </a:rPr>
            </a:br>
            <a:r>
              <a:rPr lang="en-IN" sz="1600" b="1" dirty="0">
                <a:solidFill>
                  <a:schemeClr val="bg1"/>
                </a:solidFill>
              </a:rPr>
              <a:t>Frontend Technologies:</a:t>
            </a:r>
            <a:br>
              <a:rPr lang="en-IN" sz="1600" dirty="0">
                <a:solidFill>
                  <a:schemeClr val="bg1"/>
                </a:solidFill>
              </a:rPr>
            </a:br>
            <a:r>
              <a:rPr lang="en-IN" sz="1600" dirty="0">
                <a:solidFill>
                  <a:schemeClr val="bg1"/>
                </a:solidFill>
              </a:rPr>
              <a:t>• HTML – Structure</a:t>
            </a:r>
            <a:br>
              <a:rPr lang="en-IN" sz="1600" dirty="0">
                <a:solidFill>
                  <a:schemeClr val="bg1"/>
                </a:solidFill>
              </a:rPr>
            </a:br>
            <a:r>
              <a:rPr lang="en-IN" sz="1600" dirty="0">
                <a:solidFill>
                  <a:schemeClr val="bg1"/>
                </a:solidFill>
              </a:rPr>
              <a:t>• CSS – Light theme design</a:t>
            </a:r>
            <a:br>
              <a:rPr lang="en-IN" sz="1600" dirty="0">
                <a:solidFill>
                  <a:schemeClr val="bg1"/>
                </a:solidFill>
              </a:rPr>
            </a:br>
            <a:r>
              <a:rPr lang="en-IN" sz="1600" dirty="0">
                <a:solidFill>
                  <a:schemeClr val="bg1"/>
                </a:solidFill>
              </a:rPr>
              <a:t>• JavaScript – Dynamic updates</a:t>
            </a:r>
          </a:p>
          <a:p>
            <a:pPr lvl="1"/>
            <a:endParaRPr lang="en-IN" sz="1600" dirty="0">
              <a:solidFill>
                <a:schemeClr val="bg1"/>
              </a:solidFill>
            </a:endParaRPr>
          </a:p>
          <a:p>
            <a:pPr lvl="1"/>
            <a:r>
              <a:rPr lang="en-IN" sz="1600" b="1" dirty="0">
                <a:solidFill>
                  <a:schemeClr val="bg1"/>
                </a:solidFill>
              </a:rPr>
              <a:t>Dashboard Features:</a:t>
            </a:r>
            <a:br>
              <a:rPr lang="en-IN" sz="1600" dirty="0">
                <a:solidFill>
                  <a:schemeClr val="bg1"/>
                </a:solidFill>
              </a:rPr>
            </a:br>
            <a:r>
              <a:rPr lang="en-IN" sz="1600" dirty="0">
                <a:solidFill>
                  <a:schemeClr val="bg1"/>
                </a:solidFill>
              </a:rPr>
              <a:t>• Real-time monitoring</a:t>
            </a:r>
            <a:br>
              <a:rPr lang="en-IN" sz="1600" dirty="0">
                <a:solidFill>
                  <a:schemeClr val="bg1"/>
                </a:solidFill>
              </a:rPr>
            </a:br>
            <a:r>
              <a:rPr lang="en-IN" sz="1600" dirty="0">
                <a:solidFill>
                  <a:schemeClr val="bg1"/>
                </a:solidFill>
              </a:rPr>
              <a:t>• Multi-store support</a:t>
            </a:r>
            <a:br>
              <a:rPr lang="en-IN" sz="1600" dirty="0">
                <a:solidFill>
                  <a:schemeClr val="bg1"/>
                </a:solidFill>
              </a:rPr>
            </a:br>
            <a:r>
              <a:rPr lang="en-IN" sz="1600" dirty="0">
                <a:solidFill>
                  <a:schemeClr val="bg1"/>
                </a:solidFill>
              </a:rPr>
              <a:t>• Clean tabular visualization</a:t>
            </a:r>
            <a:br>
              <a:rPr lang="en-IN" sz="1600" dirty="0">
                <a:solidFill>
                  <a:schemeClr val="bg1"/>
                </a:solidFill>
              </a:rPr>
            </a:br>
            <a:r>
              <a:rPr lang="en-IN" sz="1600" dirty="0">
                <a:solidFill>
                  <a:schemeClr val="bg1"/>
                </a:solidFill>
              </a:rPr>
              <a:t>• Responsive UI</a:t>
            </a:r>
          </a:p>
          <a:p>
            <a:br>
              <a:rPr lang="en-IN" dirty="0">
                <a:solidFill>
                  <a:schemeClr val="bg1"/>
                </a:solidFill>
              </a:rPr>
            </a:br>
            <a:endParaRPr lang="en-IN" dirty="0">
              <a:solidFill>
                <a:schemeClr val="bg1"/>
              </a:solidFill>
            </a:endParaRPr>
          </a:p>
          <a:p>
            <a:endParaRPr lang="en-IN" dirty="0"/>
          </a:p>
          <a:p>
            <a:endParaRPr lang="en-IN" dirty="0"/>
          </a:p>
        </p:txBody>
      </p:sp>
      <p:pic>
        <p:nvPicPr>
          <p:cNvPr id="11" name="Picture 10" descr="A close-up of a logo&#10;&#10;AI-generated content may be incorrect.">
            <a:extLst>
              <a:ext uri="{FF2B5EF4-FFF2-40B4-BE49-F238E27FC236}">
                <a16:creationId xmlns:a16="http://schemas.microsoft.com/office/drawing/2014/main" id="{BD39D178-D5BF-0C46-0626-AE56405F2E33}"/>
              </a:ext>
            </a:extLst>
          </p:cNvPr>
          <p:cNvPicPr>
            <a:picLocks noChangeAspect="1"/>
          </p:cNvPicPr>
          <p:nvPr/>
        </p:nvPicPr>
        <p:blipFill>
          <a:blip r:embed="rId3">
            <a:extLst>
              <a:ext uri="{28A0092B-C50C-407E-A947-70E740481C1C}">
                <a14:useLocalDpi xmlns:a14="http://schemas.microsoft.com/office/drawing/2010/main" val="0"/>
              </a:ext>
            </a:extLst>
          </a:blip>
          <a:srcRect t="24800" b="24771"/>
          <a:stretch>
            <a:fillRect/>
          </a:stretch>
        </p:blipFill>
        <p:spPr>
          <a:xfrm>
            <a:off x="10416480" y="520537"/>
            <a:ext cx="1172353" cy="3892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2635999-5925-6957-4AD2-35E97ED3BFEA}"/>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F0B0071F-756C-BDE2-E476-EDA484DC9151}"/>
              </a:ext>
            </a:extLst>
          </p:cNvPr>
          <p:cNvSpPr/>
          <p:nvPr/>
        </p:nvSpPr>
        <p:spPr>
          <a:xfrm>
            <a:off x="-168696" y="-99392"/>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3" name="Rectangle: Rounded Corners 2">
            <a:extLst>
              <a:ext uri="{FF2B5EF4-FFF2-40B4-BE49-F238E27FC236}">
                <a16:creationId xmlns:a16="http://schemas.microsoft.com/office/drawing/2014/main" id="{8C0CD792-9706-9CD9-9896-416C068E1EE7}"/>
              </a:ext>
            </a:extLst>
          </p:cNvPr>
          <p:cNvSpPr/>
          <p:nvPr/>
        </p:nvSpPr>
        <p:spPr>
          <a:xfrm>
            <a:off x="-168696" y="-99392"/>
            <a:ext cx="12369296" cy="1080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OQWKHA+SegoeUI-Bold" panose="020B0604020202020204"/>
              </a:rPr>
              <a:t>Deployment &amp; Workflow </a:t>
            </a:r>
          </a:p>
        </p:txBody>
      </p:sp>
      <p:sp>
        <p:nvSpPr>
          <p:cNvPr id="5" name="AutoShape 2" descr="Generated image">
            <a:extLst>
              <a:ext uri="{FF2B5EF4-FFF2-40B4-BE49-F238E27FC236}">
                <a16:creationId xmlns:a16="http://schemas.microsoft.com/office/drawing/2014/main" id="{3E304D08-98D9-C4C9-86E4-45FF80024C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Rectangle: Rounded Corners 5">
            <a:extLst>
              <a:ext uri="{FF2B5EF4-FFF2-40B4-BE49-F238E27FC236}">
                <a16:creationId xmlns:a16="http://schemas.microsoft.com/office/drawing/2014/main" id="{8FC675B6-286B-512D-2946-D7BDC9FD65B8}"/>
              </a:ext>
            </a:extLst>
          </p:cNvPr>
          <p:cNvSpPr/>
          <p:nvPr/>
        </p:nvSpPr>
        <p:spPr>
          <a:xfrm>
            <a:off x="253387" y="1340768"/>
            <a:ext cx="8136904" cy="478168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B49C343A-0AC2-18FC-7A93-24773604AB39}"/>
              </a:ext>
            </a:extLst>
          </p:cNvPr>
          <p:cNvSpPr txBox="1"/>
          <p:nvPr/>
        </p:nvSpPr>
        <p:spPr>
          <a:xfrm>
            <a:off x="889671" y="1679960"/>
            <a:ext cx="7416824" cy="4247317"/>
          </a:xfrm>
          <a:prstGeom prst="rect">
            <a:avLst/>
          </a:prstGeom>
          <a:noFill/>
        </p:spPr>
        <p:txBody>
          <a:bodyPr wrap="square" rtlCol="0">
            <a:spAutoFit/>
          </a:bodyPr>
          <a:lstStyle/>
          <a:p>
            <a:r>
              <a:rPr lang="en-IN" b="1" dirty="0">
                <a:solidFill>
                  <a:schemeClr val="bg1"/>
                </a:solidFill>
              </a:rPr>
              <a:t>Deployment Platform:</a:t>
            </a:r>
            <a:r>
              <a:rPr lang="en-IN" dirty="0">
                <a:solidFill>
                  <a:schemeClr val="bg1"/>
                </a:solidFill>
              </a:rPr>
              <a:t> Render Cloud</a:t>
            </a:r>
          </a:p>
          <a:p>
            <a:endParaRPr lang="en-IN" dirty="0">
              <a:solidFill>
                <a:schemeClr val="bg1"/>
              </a:solidFill>
            </a:endParaRPr>
          </a:p>
          <a:p>
            <a:r>
              <a:rPr lang="en-IN" b="1" dirty="0">
                <a:solidFill>
                  <a:schemeClr val="bg1"/>
                </a:solidFill>
              </a:rPr>
              <a:t>System Hosting:</a:t>
            </a:r>
            <a:br>
              <a:rPr lang="en-IN" dirty="0">
                <a:solidFill>
                  <a:schemeClr val="bg1"/>
                </a:solidFill>
              </a:rPr>
            </a:br>
            <a:r>
              <a:rPr lang="en-IN" dirty="0">
                <a:solidFill>
                  <a:schemeClr val="bg1"/>
                </a:solidFill>
              </a:rPr>
              <a:t>• Flask backend hosted on Render</a:t>
            </a:r>
            <a:br>
              <a:rPr lang="en-IN" dirty="0">
                <a:solidFill>
                  <a:schemeClr val="bg1"/>
                </a:solidFill>
              </a:rPr>
            </a:br>
            <a:r>
              <a:rPr lang="en-IN" dirty="0">
                <a:solidFill>
                  <a:schemeClr val="bg1"/>
                </a:solidFill>
              </a:rPr>
              <a:t>• PostgreSQL cloud database</a:t>
            </a:r>
            <a:br>
              <a:rPr lang="en-IN" dirty="0">
                <a:solidFill>
                  <a:schemeClr val="bg1"/>
                </a:solidFill>
              </a:rPr>
            </a:br>
            <a:r>
              <a:rPr lang="en-IN" dirty="0">
                <a:solidFill>
                  <a:schemeClr val="bg1"/>
                </a:solidFill>
              </a:rPr>
              <a:t>• Fully live and accessible</a:t>
            </a:r>
          </a:p>
          <a:p>
            <a:endParaRPr lang="en-IN" dirty="0">
              <a:solidFill>
                <a:schemeClr val="bg1"/>
              </a:solidFill>
            </a:endParaRPr>
          </a:p>
          <a:p>
            <a:r>
              <a:rPr lang="en-IN" b="1" dirty="0">
                <a:solidFill>
                  <a:schemeClr val="bg1"/>
                </a:solidFill>
              </a:rPr>
              <a:t>Version Control:</a:t>
            </a:r>
            <a:br>
              <a:rPr lang="en-IN" dirty="0">
                <a:solidFill>
                  <a:schemeClr val="bg1"/>
                </a:solidFill>
              </a:rPr>
            </a:br>
            <a:r>
              <a:rPr lang="en-IN" dirty="0">
                <a:solidFill>
                  <a:schemeClr val="bg1"/>
                </a:solidFill>
              </a:rPr>
              <a:t>• GitHub used for repository management</a:t>
            </a:r>
            <a:br>
              <a:rPr lang="en-IN" dirty="0">
                <a:solidFill>
                  <a:schemeClr val="bg1"/>
                </a:solidFill>
              </a:rPr>
            </a:br>
            <a:r>
              <a:rPr lang="en-IN" dirty="0">
                <a:solidFill>
                  <a:schemeClr val="bg1"/>
                </a:solidFill>
              </a:rPr>
              <a:t>• Model, backend, and frontend maintained separately</a:t>
            </a:r>
          </a:p>
          <a:p>
            <a:endParaRPr lang="en-IN" dirty="0">
              <a:solidFill>
                <a:schemeClr val="bg1"/>
              </a:solidFill>
            </a:endParaRPr>
          </a:p>
          <a:p>
            <a:r>
              <a:rPr lang="en-IN" b="1" dirty="0">
                <a:solidFill>
                  <a:schemeClr val="bg1"/>
                </a:solidFill>
              </a:rPr>
              <a:t>Deployment Workflow:</a:t>
            </a:r>
            <a:br>
              <a:rPr lang="en-IN" dirty="0">
                <a:solidFill>
                  <a:schemeClr val="bg1"/>
                </a:solidFill>
              </a:rPr>
            </a:br>
            <a:r>
              <a:rPr lang="en-IN" dirty="0">
                <a:solidFill>
                  <a:schemeClr val="bg1"/>
                </a:solidFill>
              </a:rPr>
              <a:t>Dataset → Model Training → Flask Integration → Database Sync → Render Deployment → Live Testing</a:t>
            </a:r>
          </a:p>
          <a:p>
            <a:endParaRPr lang="en-IN" dirty="0">
              <a:solidFill>
                <a:schemeClr val="bg1"/>
              </a:solidFill>
            </a:endParaRPr>
          </a:p>
        </p:txBody>
      </p:sp>
      <p:pic>
        <p:nvPicPr>
          <p:cNvPr id="10" name="Picture 9" descr="A diagram of a software development&#10;&#10;AI-generated content may be incorrect.">
            <a:extLst>
              <a:ext uri="{FF2B5EF4-FFF2-40B4-BE49-F238E27FC236}">
                <a16:creationId xmlns:a16="http://schemas.microsoft.com/office/drawing/2014/main" id="{D0809328-B8B1-78B0-B1C7-A3C10765216F}"/>
              </a:ext>
            </a:extLst>
          </p:cNvPr>
          <p:cNvPicPr>
            <a:picLocks noChangeAspect="1"/>
          </p:cNvPicPr>
          <p:nvPr/>
        </p:nvPicPr>
        <p:blipFill>
          <a:blip r:embed="rId3" cstate="print">
            <a:extLst>
              <a:ext uri="{28A0092B-C50C-407E-A947-70E740481C1C}">
                <a14:useLocalDpi xmlns:a14="http://schemas.microsoft.com/office/drawing/2010/main" val="0"/>
              </a:ext>
            </a:extLst>
          </a:blip>
          <a:srcRect l="4326" t="2222" r="2750" b="1579"/>
          <a:stretch>
            <a:fillRect/>
          </a:stretch>
        </p:blipFill>
        <p:spPr>
          <a:xfrm>
            <a:off x="8760296" y="1484784"/>
            <a:ext cx="2986503" cy="4637670"/>
          </a:xfrm>
          <a:prstGeom prst="rect">
            <a:avLst/>
          </a:prstGeom>
          <a:ln>
            <a:noFill/>
          </a:ln>
          <a:effectLst>
            <a:outerShdw blurRad="190500" algn="tl" rotWithShape="0">
              <a:srgbClr val="000000">
                <a:alpha val="70000"/>
              </a:srgbClr>
            </a:outerShdw>
          </a:effectLst>
        </p:spPr>
      </p:pic>
      <p:pic>
        <p:nvPicPr>
          <p:cNvPr id="11" name="Picture 10" descr="A close-up of a logo&#10;&#10;AI-generated content may be incorrect.">
            <a:extLst>
              <a:ext uri="{FF2B5EF4-FFF2-40B4-BE49-F238E27FC236}">
                <a16:creationId xmlns:a16="http://schemas.microsoft.com/office/drawing/2014/main" id="{565AD857-A4E3-8B1E-1968-680934F9A6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53547" y="246355"/>
            <a:ext cx="1584176" cy="3892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837675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4929001" y="437672"/>
            <a:ext cx="2333997" cy="487313"/>
          </a:xfrm>
          <a:prstGeom prst="rect">
            <a:avLst/>
          </a:prstGeom>
        </p:spPr>
        <p:txBody>
          <a:bodyPr vert="horz" wrap="square" lIns="0" tIns="0" rIns="0" bIns="0" rtlCol="0">
            <a:spAutoFit/>
          </a:bodyPr>
          <a:lstStyle/>
          <a:p>
            <a:pPr marL="0" marR="0">
              <a:lnSpc>
                <a:spcPts val="3751"/>
              </a:lnSpc>
              <a:spcBef>
                <a:spcPts val="0"/>
              </a:spcBef>
              <a:spcAft>
                <a:spcPts val="0"/>
              </a:spcAft>
            </a:pPr>
            <a:r>
              <a:rPr lang="en-IN" sz="3600" b="1" dirty="0">
                <a:solidFill>
                  <a:srgbClr val="FFFFFF"/>
                </a:solidFill>
                <a:latin typeface="OQWKHA+SegoeUI-Bold"/>
                <a:cs typeface="OQWKHA+SegoeUI-Bold"/>
              </a:rPr>
              <a:t>Conclusion</a:t>
            </a:r>
            <a:endParaRPr sz="3600" b="1" dirty="0">
              <a:solidFill>
                <a:srgbClr val="FFFFFF"/>
              </a:solidFill>
              <a:latin typeface="OQWKHA+SegoeUI-Bold"/>
              <a:cs typeface="OQWKHA+SegoeUI-Bold"/>
            </a:endParaRPr>
          </a:p>
        </p:txBody>
      </p:sp>
      <p:sp>
        <p:nvSpPr>
          <p:cNvPr id="4" name="object 4"/>
          <p:cNvSpPr txBox="1"/>
          <p:nvPr/>
        </p:nvSpPr>
        <p:spPr>
          <a:xfrm>
            <a:off x="1199881" y="3114529"/>
            <a:ext cx="3694828" cy="243656"/>
          </a:xfrm>
          <a:prstGeom prst="rect">
            <a:avLst/>
          </a:prstGeom>
        </p:spPr>
        <p:txBody>
          <a:bodyPr vert="horz" wrap="square" lIns="0" tIns="0" rIns="0" bIns="0" rtlCol="0">
            <a:spAutoFit/>
          </a:bodyPr>
          <a:lstStyle/>
          <a:p>
            <a:pPr marL="0" marR="0">
              <a:lnSpc>
                <a:spcPts val="1875"/>
              </a:lnSpc>
              <a:spcBef>
                <a:spcPts val="0"/>
              </a:spcBef>
              <a:spcAft>
                <a:spcPts val="0"/>
              </a:spcAft>
            </a:pPr>
            <a:endParaRPr sz="1800" dirty="0">
              <a:solidFill>
                <a:srgbClr val="FFFFFF"/>
              </a:solidFill>
              <a:latin typeface="HGTTST+SegoeUI"/>
              <a:cs typeface="HGTTST+SegoeUI"/>
            </a:endParaRPr>
          </a:p>
        </p:txBody>
      </p:sp>
      <p:sp>
        <p:nvSpPr>
          <p:cNvPr id="5" name="object 5"/>
          <p:cNvSpPr txBox="1"/>
          <p:nvPr/>
        </p:nvSpPr>
        <p:spPr>
          <a:xfrm>
            <a:off x="1199881" y="3526008"/>
            <a:ext cx="4690186" cy="243656"/>
          </a:xfrm>
          <a:prstGeom prst="rect">
            <a:avLst/>
          </a:prstGeom>
        </p:spPr>
        <p:txBody>
          <a:bodyPr vert="horz" wrap="square" lIns="0" tIns="0" rIns="0" bIns="0" rtlCol="0">
            <a:spAutoFit/>
          </a:bodyPr>
          <a:lstStyle/>
          <a:p>
            <a:pPr marL="0" marR="0">
              <a:lnSpc>
                <a:spcPts val="1875"/>
              </a:lnSpc>
              <a:spcBef>
                <a:spcPts val="0"/>
              </a:spcBef>
              <a:spcAft>
                <a:spcPts val="0"/>
              </a:spcAft>
            </a:pPr>
            <a:endParaRPr sz="1800" dirty="0">
              <a:solidFill>
                <a:srgbClr val="FFFFFF"/>
              </a:solidFill>
              <a:latin typeface="HGTTST+SegoeUI"/>
              <a:cs typeface="HGTTST+SegoeUI"/>
            </a:endParaRPr>
          </a:p>
        </p:txBody>
      </p:sp>
      <p:sp>
        <p:nvSpPr>
          <p:cNvPr id="6" name="object 6"/>
          <p:cNvSpPr txBox="1"/>
          <p:nvPr/>
        </p:nvSpPr>
        <p:spPr>
          <a:xfrm>
            <a:off x="219258" y="6441146"/>
            <a:ext cx="2153011" cy="192360"/>
          </a:xfrm>
          <a:prstGeom prst="rect">
            <a:avLst/>
          </a:prstGeom>
        </p:spPr>
        <p:txBody>
          <a:bodyPr vert="horz" wrap="square" lIns="0" tIns="0" rIns="0" bIns="0" rtlCol="0">
            <a:spAutoFit/>
          </a:bodyPr>
          <a:lstStyle/>
          <a:p>
            <a:pPr marL="0" marR="0">
              <a:lnSpc>
                <a:spcPts val="1458"/>
              </a:lnSpc>
              <a:spcBef>
                <a:spcPts val="0"/>
              </a:spcBef>
              <a:spcAft>
                <a:spcPts val="0"/>
              </a:spcAft>
            </a:pPr>
            <a:endParaRPr sz="1400" u="sng" dirty="0">
              <a:solidFill>
                <a:srgbClr val="FFFFFF"/>
              </a:solidFill>
              <a:latin typeface="HGTTST+SegoeUI"/>
              <a:cs typeface="HGTTST+SegoeUI"/>
              <a:hlinkClick r:id="rId3"/>
            </a:endParaRPr>
          </a:p>
        </p:txBody>
      </p:sp>
      <p:sp>
        <p:nvSpPr>
          <p:cNvPr id="7" name="TextBox 6">
            <a:extLst>
              <a:ext uri="{FF2B5EF4-FFF2-40B4-BE49-F238E27FC236}">
                <a16:creationId xmlns:a16="http://schemas.microsoft.com/office/drawing/2014/main" id="{94D83D05-21A5-B686-9487-0B3A4E11EA5F}"/>
              </a:ext>
            </a:extLst>
          </p:cNvPr>
          <p:cNvSpPr txBox="1"/>
          <p:nvPr/>
        </p:nvSpPr>
        <p:spPr>
          <a:xfrm>
            <a:off x="239469" y="1745788"/>
            <a:ext cx="6120679" cy="4524315"/>
          </a:xfrm>
          <a:prstGeom prst="rect">
            <a:avLst/>
          </a:prstGeom>
          <a:noFill/>
        </p:spPr>
        <p:txBody>
          <a:bodyPr wrap="square" rtlCol="0">
            <a:spAutoFit/>
          </a:bodyPr>
          <a:lstStyle/>
          <a:p>
            <a:pPr algn="just"/>
            <a:r>
              <a:rPr lang="en-US" sz="2400" dirty="0">
                <a:solidFill>
                  <a:schemeClr val="bg1"/>
                </a:solidFill>
              </a:rPr>
              <a:t>This project delivers an efficient AI-driven inventory forecasting system that accurately predicts sales and supports real-time stock monitoring across multiple stores. By integrating </a:t>
            </a:r>
            <a:r>
              <a:rPr lang="en-US" sz="2400" dirty="0" err="1">
                <a:solidFill>
                  <a:schemeClr val="bg1"/>
                </a:solidFill>
              </a:rPr>
              <a:t>XGBoost</a:t>
            </a:r>
            <a:r>
              <a:rPr lang="en-US" sz="2400" dirty="0">
                <a:solidFill>
                  <a:schemeClr val="bg1"/>
                </a:solidFill>
              </a:rPr>
              <a:t> modeling with a Flask backend, PostgreSQL database, and cloud deployment, the system ensures reliable performance and seamless data flow. The dashboard provides clear, actionable insights that help improve inventory decisions and reduce stockouts, demonstrating the practical value of machine learning in retail operations.</a:t>
            </a:r>
            <a:endParaRPr lang="en-IN" sz="2400" b="1"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168696" y="-99392"/>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11" name="TextBox 10">
            <a:extLst>
              <a:ext uri="{FF2B5EF4-FFF2-40B4-BE49-F238E27FC236}">
                <a16:creationId xmlns:a16="http://schemas.microsoft.com/office/drawing/2014/main" id="{55E9BB7F-E4C6-4235-07BC-2ABEEE4821E6}"/>
              </a:ext>
            </a:extLst>
          </p:cNvPr>
          <p:cNvSpPr txBox="1"/>
          <p:nvPr/>
        </p:nvSpPr>
        <p:spPr>
          <a:xfrm>
            <a:off x="479376" y="2276872"/>
            <a:ext cx="11233248" cy="1569660"/>
          </a:xfrm>
          <a:prstGeom prst="rect">
            <a:avLst/>
          </a:prstGeom>
          <a:noFill/>
        </p:spPr>
        <p:txBody>
          <a:bodyPr wrap="square" rtlCol="0">
            <a:spAutoFit/>
          </a:bodyPr>
          <a:lstStyle/>
          <a:p>
            <a:pPr algn="ctr"/>
            <a:r>
              <a:rPr lang="en-IN" sz="9600" dirty="0">
                <a:solidFill>
                  <a:schemeClr val="bg2"/>
                </a:solidFill>
                <a:latin typeface="Segoe UI Black" panose="020B0A02040204020203" pitchFamily="34" charset="0"/>
                <a:ea typeface="Segoe UI Black" panose="020B0A02040204020203" pitchFamily="34" charset="0"/>
              </a:rPr>
              <a:t>THANK YOU</a:t>
            </a:r>
          </a:p>
        </p:txBody>
      </p:sp>
      <p:pic>
        <p:nvPicPr>
          <p:cNvPr id="4" name="Picture 3" descr="A close-up of a logo&#10;&#10;AI-generated content may be incorrect.">
            <a:extLst>
              <a:ext uri="{FF2B5EF4-FFF2-40B4-BE49-F238E27FC236}">
                <a16:creationId xmlns:a16="http://schemas.microsoft.com/office/drawing/2014/main" id="{4EF0E780-4AC3-9A38-F5B9-95F7268E28F8}"/>
              </a:ext>
            </a:extLst>
          </p:cNvPr>
          <p:cNvPicPr>
            <a:picLocks noChangeAspect="1"/>
          </p:cNvPicPr>
          <p:nvPr/>
        </p:nvPicPr>
        <p:blipFill>
          <a:blip r:embed="rId3">
            <a:extLst>
              <a:ext uri="{28A0092B-C50C-407E-A947-70E740481C1C}">
                <a14:useLocalDpi xmlns:a14="http://schemas.microsoft.com/office/drawing/2010/main" val="0"/>
              </a:ext>
            </a:extLst>
          </a:blip>
          <a:srcRect t="26057" b="25454"/>
          <a:stretch>
            <a:fillRect/>
          </a:stretch>
        </p:blipFill>
        <p:spPr>
          <a:xfrm>
            <a:off x="10416480" y="260648"/>
            <a:ext cx="1438096" cy="395094"/>
          </a:xfrm>
          <a:prstGeom prst="rect">
            <a:avLst/>
          </a:prstGeom>
        </p:spPr>
      </p:pic>
      <p:sp>
        <p:nvSpPr>
          <p:cNvPr id="5" name="TextBox 4">
            <a:extLst>
              <a:ext uri="{FF2B5EF4-FFF2-40B4-BE49-F238E27FC236}">
                <a16:creationId xmlns:a16="http://schemas.microsoft.com/office/drawing/2014/main" id="{6F8FD4EB-2529-1C68-8318-B3F208BB5607}"/>
              </a:ext>
            </a:extLst>
          </p:cNvPr>
          <p:cNvSpPr txBox="1"/>
          <p:nvPr/>
        </p:nvSpPr>
        <p:spPr>
          <a:xfrm>
            <a:off x="2639616" y="3573016"/>
            <a:ext cx="5544616" cy="923330"/>
          </a:xfrm>
          <a:prstGeom prst="rect">
            <a:avLst/>
          </a:prstGeom>
          <a:noFill/>
        </p:spPr>
        <p:txBody>
          <a:bodyPr wrap="square" rtlCol="0">
            <a:spAutoFit/>
          </a:bodyPr>
          <a:lstStyle/>
          <a:p>
            <a:r>
              <a:rPr lang="en-US" b="1" dirty="0">
                <a:solidFill>
                  <a:schemeClr val="bg1"/>
                </a:solidFill>
              </a:rPr>
              <a:t>Deployed Application:</a:t>
            </a:r>
            <a:br>
              <a:rPr lang="en-US" dirty="0"/>
            </a:br>
            <a:r>
              <a:rPr lang="en-US" dirty="0"/>
              <a:t>🔗 </a:t>
            </a:r>
            <a:r>
              <a:rPr lang="en-US" dirty="0">
                <a:hlinkClick r:id="rId4"/>
              </a:rPr>
              <a:t>https://smartstock-retail-optimizer.onrender.com</a:t>
            </a:r>
            <a:endParaRPr lang="en-IN" dirty="0">
              <a:solidFill>
                <a:schemeClr val="bg1"/>
              </a:solidFill>
            </a:endParaRPr>
          </a:p>
          <a:p>
            <a:endParaRPr lang="en-IN" dirty="0"/>
          </a:p>
        </p:txBody>
      </p:sp>
    </p:spTree>
  </p:cSld>
  <p:clrMapOvr>
    <a:masterClrMapping/>
  </p:clrMapOvr>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792</TotalTime>
  <Words>1001</Words>
  <Application>Microsoft Office PowerPoint</Application>
  <PresentationFormat>Widescreen</PresentationFormat>
  <Paragraphs>148</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Arial</vt:lpstr>
      <vt:lpstr>Aptos</vt:lpstr>
      <vt:lpstr>HGTTST+SegoeUI</vt:lpstr>
      <vt:lpstr>OQWKHA+SegoeUI-Bold</vt:lpstr>
      <vt:lpstr>Segoe UI Black</vt:lpstr>
      <vt:lpstr>Theme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pdfcandle</dc:creator>
  <cp:lastModifiedBy>Bhakthi .S.P</cp:lastModifiedBy>
  <cp:revision>2</cp:revision>
  <dcterms:modified xsi:type="dcterms:W3CDTF">2026-01-02T17:14:25Z</dcterms:modified>
</cp:coreProperties>
</file>